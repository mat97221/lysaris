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F0A"/>
        </a:solidFill>
        <a:effectLst/>
      </p:bgPr>
    </p:bg>
    <p:spTree>
      <p:nvGrpSpPr>
        <p:cNvPr id="1" name=""/>
        <p:cNvGrpSpPr/>
        <p:nvPr/>
      </p:nvGrpSpPr>
      <p:grpSpPr/>
      <p:sp>
        <p:nvSpPr>
          <p:cNvPr id="2" name="TextBox 1"/>
          <p:cNvSpPr txBox="1"/>
          <p:nvPr/>
        </p:nvSpPr>
        <p:spPr>
          <a:xfrm>
            <a:off x="548640" y="457200"/>
            <a:ext cx="10972800" cy="320040"/>
          </a:xfrm>
          <a:prstGeom prst="rect">
            <a:avLst/>
          </a:prstGeom>
          <a:noFill/>
        </p:spPr>
        <p:txBody>
          <a:bodyPr wrap="square">
            <a:spAutoFit/>
          </a:bodyPr>
          <a:lstStyle/>
          <a:p>
            <a:pPr algn="l"/>
            <a:r>
              <a:rPr sz="1400" b="0" i="0">
                <a:solidFill>
                  <a:srgbClr val="B8922A"/>
                </a:solidFill>
                <a:latin typeface="Calibri"/>
              </a:rPr>
              <a:t>Présentation à la CCI de l'Allier</a:t>
            </a:r>
          </a:p>
        </p:txBody>
      </p:sp>
      <p:sp>
        <p:nvSpPr>
          <p:cNvPr id="3" name="TextBox 2"/>
          <p:cNvSpPr txBox="1"/>
          <p:nvPr/>
        </p:nvSpPr>
        <p:spPr>
          <a:xfrm>
            <a:off x="548640" y="960120"/>
            <a:ext cx="10972800" cy="1645920"/>
          </a:xfrm>
          <a:prstGeom prst="rect">
            <a:avLst/>
          </a:prstGeom>
          <a:noFill/>
        </p:spPr>
        <p:txBody>
          <a:bodyPr wrap="square">
            <a:spAutoFit/>
          </a:bodyPr>
          <a:lstStyle/>
          <a:p>
            <a:pPr algn="l"/>
            <a:r>
              <a:rPr sz="4400" b="1" i="0">
                <a:solidFill>
                  <a:srgbClr val="F4F0E8"/>
                </a:solidFill>
                <a:latin typeface="Calibri"/>
              </a:rPr>
              <a:t>L'infrastructure numérique des marchés de gros alimentaires français</a:t>
            </a:r>
          </a:p>
        </p:txBody>
      </p:sp>
      <p:sp>
        <p:nvSpPr>
          <p:cNvPr id="4" name="TextBox 3"/>
          <p:cNvSpPr txBox="1"/>
          <p:nvPr/>
        </p:nvSpPr>
        <p:spPr>
          <a:xfrm>
            <a:off x="548640" y="2834640"/>
            <a:ext cx="10972800" cy="1463040"/>
          </a:xfrm>
          <a:prstGeom prst="rect">
            <a:avLst/>
          </a:prstGeom>
          <a:noFill/>
        </p:spPr>
        <p:txBody>
          <a:bodyPr wrap="square">
            <a:spAutoFit/>
          </a:bodyPr>
          <a:lstStyle/>
          <a:p>
            <a:pPr algn="l"/>
            <a:r>
              <a:rPr sz="1800" b="0" i="0">
                <a:solidFill>
                  <a:srgbClr val="F4F0E8"/>
                </a:solidFill>
                <a:latin typeface="Calibri"/>
              </a:rPr>
              <a:t>LYSARIS construit l'outil de référence de l'information de marché pour les Marchés d'Intérêt National et les circuits de gros — un écosystème d'environ 40 milliards d'euros, structurellement sous-équipé en outils numériques.</a:t>
            </a:r>
          </a:p>
        </p:txBody>
      </p:sp>
      <p:sp>
        <p:nvSpPr>
          <p:cNvPr id="5" name="Rectangle 4"/>
          <p:cNvSpPr/>
          <p:nvPr/>
        </p:nvSpPr>
        <p:spPr>
          <a:xfrm>
            <a:off x="548640" y="5943600"/>
            <a:ext cx="2926080" cy="411480"/>
          </a:xfrm>
          <a:prstGeom prst="rect">
            <a:avLst/>
          </a:prstGeom>
          <a:noFill/>
          <a:ln w="15240">
            <a:solidFill>
              <a:srgbClr val="B89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61888"/>
            <a:ext cx="2743200" cy="374904"/>
          </a:xfrm>
          <a:prstGeom prst="rect">
            <a:avLst/>
          </a:prstGeom>
          <a:noFill/>
        </p:spPr>
        <p:txBody>
          <a:bodyPr wrap="square">
            <a:spAutoFit/>
          </a:bodyPr>
          <a:lstStyle/>
          <a:p>
            <a:pPr algn="ctr"/>
            <a:r>
              <a:rPr sz="1100" b="0" i="0">
                <a:solidFill>
                  <a:srgbClr val="F4F0E8"/>
                </a:solidFill>
                <a:latin typeface="Calibri"/>
              </a:rPr>
              <a:t>Phase pilote — partenaires sélectionnés</a:t>
            </a:r>
          </a:p>
        </p:txBody>
      </p:sp>
      <p:sp>
        <p:nvSpPr>
          <p:cNvPr id="7" name="Rectangle 6"/>
          <p:cNvSpPr/>
          <p:nvPr/>
        </p:nvSpPr>
        <p:spPr>
          <a:xfrm>
            <a:off x="3703320" y="5943600"/>
            <a:ext cx="2560320" cy="411480"/>
          </a:xfrm>
          <a:prstGeom prst="rect">
            <a:avLst/>
          </a:prstGeom>
          <a:noFill/>
          <a:ln w="15240">
            <a:solidFill>
              <a:srgbClr val="B89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59" y="5961888"/>
            <a:ext cx="2377439" cy="374904"/>
          </a:xfrm>
          <a:prstGeom prst="rect">
            <a:avLst/>
          </a:prstGeom>
          <a:noFill/>
        </p:spPr>
        <p:txBody>
          <a:bodyPr wrap="square">
            <a:spAutoFit/>
          </a:bodyPr>
          <a:lstStyle/>
          <a:p>
            <a:pPr algn="ctr"/>
            <a:r>
              <a:rPr sz="1100" b="0" i="0">
                <a:solidFill>
                  <a:srgbClr val="F4F0E8"/>
                </a:solidFill>
                <a:latin typeface="Calibri"/>
              </a:rPr>
              <a:t>Fondée en 2026 — trois associés</a:t>
            </a:r>
          </a:p>
        </p:txBody>
      </p:sp>
      <p:sp>
        <p:nvSpPr>
          <p:cNvPr id="9" name="Rectangle 8"/>
          <p:cNvSpPr/>
          <p:nvPr/>
        </p:nvSpPr>
        <p:spPr>
          <a:xfrm>
            <a:off x="6492240" y="5943600"/>
            <a:ext cx="2560320" cy="411480"/>
          </a:xfrm>
          <a:prstGeom prst="rect">
            <a:avLst/>
          </a:prstGeom>
          <a:noFill/>
          <a:ln w="15240">
            <a:solidFill>
              <a:srgbClr val="B89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79" y="5961888"/>
            <a:ext cx="2377439" cy="374904"/>
          </a:xfrm>
          <a:prstGeom prst="rect">
            <a:avLst/>
          </a:prstGeom>
          <a:noFill/>
        </p:spPr>
        <p:txBody>
          <a:bodyPr wrap="square">
            <a:spAutoFit/>
          </a:bodyPr>
          <a:lstStyle/>
          <a:p>
            <a:pPr algn="ctr"/>
            <a:r>
              <a:rPr sz="1100" b="0" i="0">
                <a:solidFill>
                  <a:srgbClr val="F4F0E8"/>
                </a:solidFill>
                <a:latin typeface="Calibri"/>
              </a:rPr>
              <a:t>SAS en cours de finalisation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0E8"/>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a:spAutoFit/>
          </a:bodyPr>
          <a:lstStyle/>
          <a:p>
            <a:pPr algn="l"/>
            <a:r>
              <a:rPr sz="1200" b="0" i="0">
                <a:solidFill>
                  <a:srgbClr val="5C7A4E"/>
                </a:solidFill>
                <a:latin typeface="Calibri"/>
              </a:rPr>
              <a:t>ACCROCHE TERRITORIALE</a:t>
            </a:r>
          </a:p>
        </p:txBody>
      </p:sp>
      <p:sp>
        <p:nvSpPr>
          <p:cNvPr id="3" name="TextBox 2"/>
          <p:cNvSpPr txBox="1"/>
          <p:nvPr/>
        </p:nvSpPr>
        <p:spPr>
          <a:xfrm>
            <a:off x="548640" y="685800"/>
            <a:ext cx="10972800" cy="731520"/>
          </a:xfrm>
          <a:prstGeom prst="rect">
            <a:avLst/>
          </a:prstGeom>
          <a:noFill/>
        </p:spPr>
        <p:txBody>
          <a:bodyPr wrap="square">
            <a:spAutoFit/>
          </a:bodyPr>
          <a:lstStyle/>
          <a:p>
            <a:pPr algn="l"/>
            <a:r>
              <a:rPr sz="3200" b="1" i="0">
                <a:solidFill>
                  <a:srgbClr val="0C0F0A"/>
                </a:solidFill>
                <a:latin typeface="Calibri"/>
              </a:rPr>
              <a:t>Un projet né au cœur d'une région agricole et agroalimentaire</a:t>
            </a:r>
          </a:p>
        </p:txBody>
      </p:sp>
      <p:sp>
        <p:nvSpPr>
          <p:cNvPr id="4" name="TextBox 3"/>
          <p:cNvSpPr txBox="1"/>
          <p:nvPr/>
        </p:nvSpPr>
        <p:spPr>
          <a:xfrm>
            <a:off x="548640" y="1600200"/>
            <a:ext cx="10972800" cy="1097280"/>
          </a:xfrm>
          <a:prstGeom prst="rect">
            <a:avLst/>
          </a:prstGeom>
          <a:noFill/>
        </p:spPr>
        <p:txBody>
          <a:bodyPr wrap="square">
            <a:spAutoFit/>
          </a:bodyPr>
          <a:lstStyle/>
          <a:p>
            <a:pPr algn="l"/>
            <a:r>
              <a:rPr sz="1400" b="0" i="0">
                <a:solidFill>
                  <a:srgbClr val="0C0F0A"/>
                </a:solidFill>
                <a:latin typeface="Calibri"/>
              </a:rPr>
              <a:t>L'Allier et la région Auvergne-Rhône-Alpes concentrent un tissu dense de producteurs, de grossistes, de coopératives et de plateformes de distribution alimentaire. C'est précisément pour ces acteurs — ceux qui font tourner les circuits de gros au quotidien — que LYSARIS développe ses outils.</a:t>
            </a:r>
          </a:p>
        </p:txBody>
      </p:sp>
      <p:sp>
        <p:nvSpPr>
          <p:cNvPr id="5" name="Rectangle 4"/>
          <p:cNvSpPr/>
          <p:nvPr/>
        </p:nvSpPr>
        <p:spPr>
          <a:xfrm>
            <a:off x="548640" y="2834640"/>
            <a:ext cx="64008" cy="914400"/>
          </a:xfrm>
          <a:prstGeom prst="rect">
            <a:avLst/>
          </a:prstGeom>
          <a:solidFill>
            <a:srgbClr val="B8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834640"/>
            <a:ext cx="10607040" cy="914400"/>
          </a:xfrm>
          <a:prstGeom prst="rect">
            <a:avLst/>
          </a:prstGeom>
          <a:noFill/>
        </p:spPr>
        <p:txBody>
          <a:bodyPr wrap="square">
            <a:spAutoFit/>
          </a:bodyPr>
          <a:lstStyle/>
          <a:p>
            <a:pPr algn="l"/>
            <a:r>
              <a:rPr sz="1300" b="0" i="1">
                <a:solidFill>
                  <a:srgbClr val="7A8070"/>
                </a:solidFill>
                <a:latin typeface="Calibri"/>
              </a:rPr>
              <a:t>Notre conviction : la modernisation des circuits de gros alimentaires ne viendra pas des géants du numérique, mais d'acteurs de terrain qui comprennent comment fonctionne réellement un carreau de marché à cinq heures du matin.</a:t>
            </a:r>
          </a:p>
        </p:txBody>
      </p:sp>
      <p:sp>
        <p:nvSpPr>
          <p:cNvPr id="7" name="Rectangle 6"/>
          <p:cNvSpPr/>
          <p:nvPr/>
        </p:nvSpPr>
        <p:spPr>
          <a:xfrm>
            <a:off x="548640" y="3977639"/>
            <a:ext cx="3474720" cy="2377440"/>
          </a:xfrm>
          <a:prstGeom prst="rect">
            <a:avLst/>
          </a:prstGeom>
          <a:solidFill>
            <a:srgbClr val="0C0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160520"/>
            <a:ext cx="3200400" cy="822960"/>
          </a:xfrm>
          <a:prstGeom prst="rect">
            <a:avLst/>
          </a:prstGeom>
          <a:noFill/>
        </p:spPr>
        <p:txBody>
          <a:bodyPr wrap="square">
            <a:spAutoFit/>
          </a:bodyPr>
          <a:lstStyle/>
          <a:p>
            <a:pPr algn="ctr"/>
            <a:r>
              <a:rPr sz="3400" b="1" i="0">
                <a:solidFill>
                  <a:srgbClr val="B8922A"/>
                </a:solidFill>
                <a:latin typeface="Calibri"/>
              </a:rPr>
              <a:t>~40 Md€</a:t>
            </a:r>
          </a:p>
        </p:txBody>
      </p:sp>
      <p:sp>
        <p:nvSpPr>
          <p:cNvPr id="9" name="TextBox 8"/>
          <p:cNvSpPr txBox="1"/>
          <p:nvPr/>
        </p:nvSpPr>
        <p:spPr>
          <a:xfrm>
            <a:off x="685800" y="5074920"/>
            <a:ext cx="3200400" cy="1097280"/>
          </a:xfrm>
          <a:prstGeom prst="rect">
            <a:avLst/>
          </a:prstGeom>
          <a:noFill/>
        </p:spPr>
        <p:txBody>
          <a:bodyPr wrap="square">
            <a:spAutoFit/>
          </a:bodyPr>
          <a:lstStyle/>
          <a:p>
            <a:pPr algn="ctr"/>
            <a:r>
              <a:rPr sz="1200" b="0" i="0">
                <a:solidFill>
                  <a:srgbClr val="F4F0E8"/>
                </a:solidFill>
                <a:latin typeface="Calibri"/>
              </a:rPr>
              <a:t>Écosystème des marchés de gros français</a:t>
            </a:r>
          </a:p>
        </p:txBody>
      </p:sp>
      <p:sp>
        <p:nvSpPr>
          <p:cNvPr id="10" name="Rectangle 9"/>
          <p:cNvSpPr/>
          <p:nvPr/>
        </p:nvSpPr>
        <p:spPr>
          <a:xfrm>
            <a:off x="4361688" y="3977639"/>
            <a:ext cx="3474720" cy="2377440"/>
          </a:xfrm>
          <a:prstGeom prst="rect">
            <a:avLst/>
          </a:prstGeom>
          <a:solidFill>
            <a:srgbClr val="0C0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8" y="4160520"/>
            <a:ext cx="3200400" cy="822960"/>
          </a:xfrm>
          <a:prstGeom prst="rect">
            <a:avLst/>
          </a:prstGeom>
          <a:noFill/>
        </p:spPr>
        <p:txBody>
          <a:bodyPr wrap="square">
            <a:spAutoFit/>
          </a:bodyPr>
          <a:lstStyle/>
          <a:p>
            <a:pPr algn="ctr"/>
            <a:r>
              <a:rPr sz="3400" b="1" i="0">
                <a:solidFill>
                  <a:srgbClr val="B8922A"/>
                </a:solidFill>
                <a:latin typeface="Calibri"/>
              </a:rPr>
              <a:t>4</a:t>
            </a:r>
          </a:p>
        </p:txBody>
      </p:sp>
      <p:sp>
        <p:nvSpPr>
          <p:cNvPr id="12" name="TextBox 11"/>
          <p:cNvSpPr txBox="1"/>
          <p:nvPr/>
        </p:nvSpPr>
        <p:spPr>
          <a:xfrm>
            <a:off x="4498848" y="5074920"/>
            <a:ext cx="3200400" cy="1097280"/>
          </a:xfrm>
          <a:prstGeom prst="rect">
            <a:avLst/>
          </a:prstGeom>
          <a:noFill/>
        </p:spPr>
        <p:txBody>
          <a:bodyPr wrap="square">
            <a:spAutoFit/>
          </a:bodyPr>
          <a:lstStyle/>
          <a:p>
            <a:pPr algn="ctr"/>
            <a:r>
              <a:rPr sz="1200" b="0" i="0">
                <a:solidFill>
                  <a:srgbClr val="F4F0E8"/>
                </a:solidFill>
                <a:latin typeface="Calibri"/>
              </a:rPr>
              <a:t>Briques produit séquencées</a:t>
            </a:r>
          </a:p>
        </p:txBody>
      </p:sp>
      <p:sp>
        <p:nvSpPr>
          <p:cNvPr id="13" name="Rectangle 12"/>
          <p:cNvSpPr/>
          <p:nvPr/>
        </p:nvSpPr>
        <p:spPr>
          <a:xfrm>
            <a:off x="8174736" y="3977639"/>
            <a:ext cx="3474720" cy="2377440"/>
          </a:xfrm>
          <a:prstGeom prst="rect">
            <a:avLst/>
          </a:prstGeom>
          <a:solidFill>
            <a:srgbClr val="0C0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4160520"/>
            <a:ext cx="3200400" cy="822960"/>
          </a:xfrm>
          <a:prstGeom prst="rect">
            <a:avLst/>
          </a:prstGeom>
          <a:noFill/>
        </p:spPr>
        <p:txBody>
          <a:bodyPr wrap="square">
            <a:spAutoFit/>
          </a:bodyPr>
          <a:lstStyle/>
          <a:p>
            <a:pPr algn="ctr"/>
            <a:r>
              <a:rPr sz="3400" b="1" i="0">
                <a:solidFill>
                  <a:srgbClr val="B8922A"/>
                </a:solidFill>
                <a:latin typeface="Calibri"/>
              </a:rPr>
              <a:t>3</a:t>
            </a:r>
          </a:p>
        </p:txBody>
      </p:sp>
      <p:sp>
        <p:nvSpPr>
          <p:cNvPr id="15" name="TextBox 14"/>
          <p:cNvSpPr txBox="1"/>
          <p:nvPr/>
        </p:nvSpPr>
        <p:spPr>
          <a:xfrm>
            <a:off x="8311896" y="5074920"/>
            <a:ext cx="3200400" cy="1097280"/>
          </a:xfrm>
          <a:prstGeom prst="rect">
            <a:avLst/>
          </a:prstGeom>
          <a:noFill/>
        </p:spPr>
        <p:txBody>
          <a:bodyPr wrap="square">
            <a:spAutoFit/>
          </a:bodyPr>
          <a:lstStyle/>
          <a:p>
            <a:pPr algn="ctr"/>
            <a:r>
              <a:rPr sz="1200" b="0" i="0">
                <a:solidFill>
                  <a:srgbClr val="F4F0E8"/>
                </a:solidFill>
                <a:latin typeface="Calibri"/>
              </a:rPr>
              <a:t>Associés fondateurs complémentaires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DE8DC"/>
        </a:solidFill>
        <a:effectLst/>
      </p:bgPr>
    </p:bg>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r>
              <a:rPr sz="1200" b="0" i="0">
                <a:solidFill>
                  <a:srgbClr val="5C7A4E"/>
                </a:solidFill>
                <a:latin typeface="Calibri"/>
              </a:rPr>
              <a:t>QUI NOUS SOMMES</a:t>
            </a:r>
          </a:p>
        </p:txBody>
      </p:sp>
      <p:sp>
        <p:nvSpPr>
          <p:cNvPr id="3" name="TextBox 2"/>
          <p:cNvSpPr txBox="1"/>
          <p:nvPr/>
        </p:nvSpPr>
        <p:spPr>
          <a:xfrm>
            <a:off x="548640" y="621792"/>
            <a:ext cx="10972800" cy="640080"/>
          </a:xfrm>
          <a:prstGeom prst="rect">
            <a:avLst/>
          </a:prstGeom>
          <a:noFill/>
        </p:spPr>
        <p:txBody>
          <a:bodyPr wrap="square">
            <a:spAutoFit/>
          </a:bodyPr>
          <a:lstStyle/>
          <a:p>
            <a:pPr algn="l"/>
            <a:r>
              <a:rPr sz="3200" b="1" i="0">
                <a:solidFill>
                  <a:srgbClr val="0C0F0A"/>
                </a:solidFill>
                <a:latin typeface="Calibri"/>
              </a:rPr>
              <a:t>Trois associés, trois métiers complémentaires</a:t>
            </a:r>
          </a:p>
        </p:txBody>
      </p:sp>
      <p:sp>
        <p:nvSpPr>
          <p:cNvPr id="4" name="Rectangle 3"/>
          <p:cNvSpPr/>
          <p:nvPr/>
        </p:nvSpPr>
        <p:spPr>
          <a:xfrm>
            <a:off x="548640" y="1463040"/>
            <a:ext cx="347472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91640"/>
            <a:ext cx="3108960" cy="640080"/>
          </a:xfrm>
          <a:prstGeom prst="rect">
            <a:avLst/>
          </a:prstGeom>
          <a:noFill/>
        </p:spPr>
        <p:txBody>
          <a:bodyPr wrap="square">
            <a:spAutoFit/>
          </a:bodyPr>
          <a:lstStyle/>
          <a:p>
            <a:pPr algn="l"/>
            <a:r>
              <a:rPr sz="2600" b="1" i="0">
                <a:solidFill>
                  <a:srgbClr val="0C0F0A"/>
                </a:solidFill>
                <a:latin typeface="Calibri"/>
              </a:rPr>
              <a:t>Alex</a:t>
            </a:r>
          </a:p>
        </p:txBody>
      </p:sp>
      <p:sp>
        <p:nvSpPr>
          <p:cNvPr id="6" name="TextBox 5"/>
          <p:cNvSpPr txBox="1"/>
          <p:nvPr/>
        </p:nvSpPr>
        <p:spPr>
          <a:xfrm>
            <a:off x="731520" y="2423160"/>
            <a:ext cx="3108960" cy="502920"/>
          </a:xfrm>
          <a:prstGeom prst="rect">
            <a:avLst/>
          </a:prstGeom>
          <a:noFill/>
        </p:spPr>
        <p:txBody>
          <a:bodyPr wrap="square">
            <a:spAutoFit/>
          </a:bodyPr>
          <a:lstStyle/>
          <a:p>
            <a:pPr algn="l"/>
            <a:r>
              <a:rPr sz="1300" b="0" i="0">
                <a:solidFill>
                  <a:srgbClr val="5C7A4E"/>
                </a:solidFill>
                <a:latin typeface="Calibri"/>
              </a:rPr>
              <a:t>Président</a:t>
            </a:r>
          </a:p>
        </p:txBody>
      </p:sp>
      <p:sp>
        <p:nvSpPr>
          <p:cNvPr id="7" name="TextBox 6"/>
          <p:cNvSpPr txBox="1"/>
          <p:nvPr/>
        </p:nvSpPr>
        <p:spPr>
          <a:xfrm>
            <a:off x="731520" y="3017520"/>
            <a:ext cx="3108960" cy="3108960"/>
          </a:xfrm>
          <a:prstGeom prst="rect">
            <a:avLst/>
          </a:prstGeom>
          <a:noFill/>
        </p:spPr>
        <p:txBody>
          <a:bodyPr wrap="square">
            <a:spAutoFit/>
          </a:bodyPr>
          <a:lstStyle/>
          <a:p>
            <a:pPr algn="l"/>
            <a:r>
              <a:rPr sz="1300" b="0" i="0">
                <a:solidFill>
                  <a:srgbClr val="0C0F0A"/>
                </a:solidFill>
                <a:latin typeface="Calibri"/>
              </a:rPr>
              <a:t>Direction commerciale et relations terrain. Profil technico-commercial issu de l'industrie, en charge du démarchage des marchés et des partenariats pilotes.</a:t>
            </a:r>
          </a:p>
        </p:txBody>
      </p:sp>
      <p:sp>
        <p:nvSpPr>
          <p:cNvPr id="8" name="Rectangle 7"/>
          <p:cNvSpPr/>
          <p:nvPr/>
        </p:nvSpPr>
        <p:spPr>
          <a:xfrm>
            <a:off x="4361688" y="1463040"/>
            <a:ext cx="347472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1691640"/>
            <a:ext cx="3108960" cy="640080"/>
          </a:xfrm>
          <a:prstGeom prst="rect">
            <a:avLst/>
          </a:prstGeom>
          <a:noFill/>
        </p:spPr>
        <p:txBody>
          <a:bodyPr wrap="square">
            <a:spAutoFit/>
          </a:bodyPr>
          <a:lstStyle/>
          <a:p>
            <a:pPr algn="l"/>
            <a:r>
              <a:rPr sz="2600" b="1" i="0">
                <a:solidFill>
                  <a:srgbClr val="0C0F0A"/>
                </a:solidFill>
                <a:latin typeface="Calibri"/>
              </a:rPr>
              <a:t>Stan</a:t>
            </a:r>
          </a:p>
        </p:txBody>
      </p:sp>
      <p:sp>
        <p:nvSpPr>
          <p:cNvPr id="10" name="TextBox 9"/>
          <p:cNvSpPr txBox="1"/>
          <p:nvPr/>
        </p:nvSpPr>
        <p:spPr>
          <a:xfrm>
            <a:off x="4544568" y="2423160"/>
            <a:ext cx="3108960" cy="502920"/>
          </a:xfrm>
          <a:prstGeom prst="rect">
            <a:avLst/>
          </a:prstGeom>
          <a:noFill/>
        </p:spPr>
        <p:txBody>
          <a:bodyPr wrap="square">
            <a:spAutoFit/>
          </a:bodyPr>
          <a:lstStyle/>
          <a:p>
            <a:pPr algn="l"/>
            <a:r>
              <a:rPr sz="1300" b="0" i="0">
                <a:solidFill>
                  <a:srgbClr val="5C7A4E"/>
                </a:solidFill>
                <a:latin typeface="Calibri"/>
              </a:rPr>
              <a:t>Directeur Technique</a:t>
            </a:r>
          </a:p>
        </p:txBody>
      </p:sp>
      <p:sp>
        <p:nvSpPr>
          <p:cNvPr id="11" name="TextBox 10"/>
          <p:cNvSpPr txBox="1"/>
          <p:nvPr/>
        </p:nvSpPr>
        <p:spPr>
          <a:xfrm>
            <a:off x="4544568" y="3017520"/>
            <a:ext cx="3108960" cy="3108960"/>
          </a:xfrm>
          <a:prstGeom prst="rect">
            <a:avLst/>
          </a:prstGeom>
          <a:noFill/>
        </p:spPr>
        <p:txBody>
          <a:bodyPr wrap="square">
            <a:spAutoFit/>
          </a:bodyPr>
          <a:lstStyle/>
          <a:p>
            <a:pPr algn="l"/>
            <a:r>
              <a:rPr sz="1300" b="0" i="0">
                <a:solidFill>
                  <a:srgbClr val="0C0F0A"/>
                </a:solidFill>
                <a:latin typeface="Calibri"/>
              </a:rPr>
              <a:t>Architecture et développement de la plateforme. Profil ingénierie logicielle et cybersécurité — une exigence forte de fiabilité et de protection des données dès la conception.</a:t>
            </a:r>
          </a:p>
        </p:txBody>
      </p:sp>
      <p:sp>
        <p:nvSpPr>
          <p:cNvPr id="12" name="Rectangle 11"/>
          <p:cNvSpPr/>
          <p:nvPr/>
        </p:nvSpPr>
        <p:spPr>
          <a:xfrm>
            <a:off x="8174736" y="1463040"/>
            <a:ext cx="347472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57615" y="1691640"/>
            <a:ext cx="3108960" cy="640080"/>
          </a:xfrm>
          <a:prstGeom prst="rect">
            <a:avLst/>
          </a:prstGeom>
          <a:noFill/>
        </p:spPr>
        <p:txBody>
          <a:bodyPr wrap="square">
            <a:spAutoFit/>
          </a:bodyPr>
          <a:lstStyle/>
          <a:p>
            <a:pPr algn="l"/>
            <a:r>
              <a:rPr sz="2600" b="1" i="0">
                <a:solidFill>
                  <a:srgbClr val="0C0F0A"/>
                </a:solidFill>
                <a:latin typeface="Calibri"/>
              </a:rPr>
              <a:t>Mat</a:t>
            </a:r>
          </a:p>
        </p:txBody>
      </p:sp>
      <p:sp>
        <p:nvSpPr>
          <p:cNvPr id="14" name="TextBox 13"/>
          <p:cNvSpPr txBox="1"/>
          <p:nvPr/>
        </p:nvSpPr>
        <p:spPr>
          <a:xfrm>
            <a:off x="8357615" y="2423160"/>
            <a:ext cx="3108960" cy="502920"/>
          </a:xfrm>
          <a:prstGeom prst="rect">
            <a:avLst/>
          </a:prstGeom>
          <a:noFill/>
        </p:spPr>
        <p:txBody>
          <a:bodyPr wrap="square">
            <a:spAutoFit/>
          </a:bodyPr>
          <a:lstStyle/>
          <a:p>
            <a:pPr algn="l"/>
            <a:r>
              <a:rPr sz="1300" b="0" i="0">
                <a:solidFill>
                  <a:srgbClr val="5C7A4E"/>
                </a:solidFill>
                <a:latin typeface="Calibri"/>
              </a:rPr>
              <a:t>Directeur Général · Directeur Financier</a:t>
            </a:r>
          </a:p>
        </p:txBody>
      </p:sp>
      <p:sp>
        <p:nvSpPr>
          <p:cNvPr id="15" name="TextBox 14"/>
          <p:cNvSpPr txBox="1"/>
          <p:nvPr/>
        </p:nvSpPr>
        <p:spPr>
          <a:xfrm>
            <a:off x="8357615" y="3017520"/>
            <a:ext cx="3108960" cy="3108960"/>
          </a:xfrm>
          <a:prstGeom prst="rect">
            <a:avLst/>
          </a:prstGeom>
          <a:noFill/>
        </p:spPr>
        <p:txBody>
          <a:bodyPr wrap="square">
            <a:spAutoFit/>
          </a:bodyPr>
          <a:lstStyle/>
          <a:p>
            <a:pPr algn="l"/>
            <a:r>
              <a:rPr sz="1300" b="0" i="0">
                <a:solidFill>
                  <a:srgbClr val="0C0F0A"/>
                </a:solidFill>
                <a:latin typeface="Calibri"/>
              </a:rPr>
              <a:t>Structuration juridique, financière et conformité, notamment la protection des données personnelles (RGPD) des professionnels utilisateurs.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F17"/>
        </a:solidFill>
        <a:effectLst/>
      </p:bgPr>
    </p:bg>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r>
              <a:rPr sz="1200" b="0" i="0">
                <a:solidFill>
                  <a:srgbClr val="B8922A"/>
                </a:solidFill>
                <a:latin typeface="Calibri"/>
              </a:rPr>
              <a:t>LE CONSTAT</a:t>
            </a:r>
          </a:p>
        </p:txBody>
      </p:sp>
      <p:sp>
        <p:nvSpPr>
          <p:cNvPr id="3" name="TextBox 2"/>
          <p:cNvSpPr txBox="1"/>
          <p:nvPr/>
        </p:nvSpPr>
        <p:spPr>
          <a:xfrm>
            <a:off x="548640" y="640080"/>
            <a:ext cx="10972800" cy="731520"/>
          </a:xfrm>
          <a:prstGeom prst="rect">
            <a:avLst/>
          </a:prstGeom>
          <a:noFill/>
        </p:spPr>
        <p:txBody>
          <a:bodyPr wrap="square">
            <a:spAutoFit/>
          </a:bodyPr>
          <a:lstStyle/>
          <a:p>
            <a:pPr algn="l"/>
            <a:r>
              <a:rPr sz="3200" b="1" i="0">
                <a:solidFill>
                  <a:srgbClr val="F4F0E8"/>
                </a:solidFill>
                <a:latin typeface="Calibri"/>
              </a:rPr>
              <a:t>Un écosystème majeur qui travaille sans visibilité partagée</a:t>
            </a:r>
          </a:p>
        </p:txBody>
      </p:sp>
      <p:sp>
        <p:nvSpPr>
          <p:cNvPr id="4" name="TextBox 3"/>
          <p:cNvSpPr txBox="1"/>
          <p:nvPr/>
        </p:nvSpPr>
        <p:spPr>
          <a:xfrm>
            <a:off x="548640" y="1600200"/>
            <a:ext cx="10972800" cy="1005840"/>
          </a:xfrm>
          <a:prstGeom prst="rect">
            <a:avLst/>
          </a:prstGeom>
          <a:noFill/>
        </p:spPr>
        <p:txBody>
          <a:bodyPr wrap="square">
            <a:spAutoFit/>
          </a:bodyPr>
          <a:lstStyle/>
          <a:p>
            <a:pPr algn="l"/>
            <a:r>
              <a:rPr sz="1400" b="0" i="0">
                <a:solidFill>
                  <a:srgbClr val="F4F0E8"/>
                </a:solidFill>
                <a:latin typeface="Calibri"/>
              </a:rPr>
              <a:t>Sur les marchés de gros, grossistes, producteurs et acheteurs professionnels travaillent chaque jour sans information fiable et partagée sur les cours, les disponibilités et les tendances. L'information circule par téléphone, papier et habitude.</a:t>
            </a:r>
          </a:p>
        </p:txBody>
      </p:sp>
      <p:sp>
        <p:nvSpPr>
          <p:cNvPr id="5" name="Rectangle 4"/>
          <p:cNvSpPr/>
          <p:nvPr/>
        </p:nvSpPr>
        <p:spPr>
          <a:xfrm>
            <a:off x="548640" y="2743200"/>
            <a:ext cx="64008" cy="1005840"/>
          </a:xfrm>
          <a:prstGeom prst="rect">
            <a:avLst/>
          </a:prstGeom>
          <a:solidFill>
            <a:srgbClr val="B8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743200"/>
            <a:ext cx="10607040" cy="1005840"/>
          </a:xfrm>
          <a:prstGeom prst="rect">
            <a:avLst/>
          </a:prstGeom>
          <a:noFill/>
        </p:spPr>
        <p:txBody>
          <a:bodyPr wrap="square">
            <a:spAutoFit/>
          </a:bodyPr>
          <a:lstStyle/>
          <a:p>
            <a:pPr algn="l"/>
            <a:r>
              <a:rPr sz="1300" b="0" i="1">
                <a:solidFill>
                  <a:srgbClr val="B8922A"/>
                </a:solidFill>
                <a:latin typeface="Calibri"/>
              </a:rPr>
              <a:t>Les conséquences sont concrètes : prix décorrélés du marché, ruptures non anticipées, opportunités manquées — pour des entreprises souvent familiales, dont la marge se joue à quelques pourcents.</a:t>
            </a:r>
          </a:p>
        </p:txBody>
      </p:sp>
      <p:sp>
        <p:nvSpPr>
          <p:cNvPr id="7" name="TextBox 6"/>
          <p:cNvSpPr txBox="1"/>
          <p:nvPr/>
        </p:nvSpPr>
        <p:spPr>
          <a:xfrm>
            <a:off x="548640" y="3931920"/>
            <a:ext cx="10972800" cy="822960"/>
          </a:xfrm>
          <a:prstGeom prst="rect">
            <a:avLst/>
          </a:prstGeom>
          <a:noFill/>
        </p:spPr>
        <p:txBody>
          <a:bodyPr wrap="square">
            <a:spAutoFit/>
          </a:bodyPr>
          <a:lstStyle/>
          <a:p>
            <a:pPr algn="l"/>
            <a:r>
              <a:rPr sz="1200" b="0" i="0">
                <a:solidFill>
                  <a:srgbClr val="7A8070"/>
                </a:solidFill>
                <a:latin typeface="Calibri"/>
              </a:rPr>
              <a:t>Les outils numériques généralistes ne répondent pas aux codes de ce milieu : horaires décalés, relations de confiance construites sur le carreau, usages mobiles simples.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0E8"/>
        </a:solidFill>
        <a:effectLst/>
      </p:bgPr>
    </p:bg>
    <p:spTree>
      <p:nvGrpSpPr>
        <p:cNvPr id="1" name=""/>
        <p:cNvGrpSpPr/>
        <p:nvPr/>
      </p:nvGrpSpPr>
      <p:grpSpPr/>
      <p:sp>
        <p:nvSpPr>
          <p:cNvPr id="2" name="TextBox 1"/>
          <p:cNvSpPr txBox="1"/>
          <p:nvPr/>
        </p:nvSpPr>
        <p:spPr>
          <a:xfrm>
            <a:off x="548640" y="228600"/>
            <a:ext cx="10972800" cy="274320"/>
          </a:xfrm>
          <a:prstGeom prst="rect">
            <a:avLst/>
          </a:prstGeom>
          <a:noFill/>
        </p:spPr>
        <p:txBody>
          <a:bodyPr wrap="square">
            <a:spAutoFit/>
          </a:bodyPr>
          <a:lstStyle/>
          <a:p>
            <a:pPr algn="l"/>
            <a:r>
              <a:rPr sz="1200" b="0" i="0">
                <a:solidFill>
                  <a:srgbClr val="5C7A4E"/>
                </a:solidFill>
                <a:latin typeface="Calibri"/>
              </a:rPr>
              <a:t>NOTRE RÉPONSE</a:t>
            </a:r>
          </a:p>
        </p:txBody>
      </p:sp>
      <p:sp>
        <p:nvSpPr>
          <p:cNvPr id="3" name="TextBox 2"/>
          <p:cNvSpPr txBox="1"/>
          <p:nvPr/>
        </p:nvSpPr>
        <p:spPr>
          <a:xfrm>
            <a:off x="548640" y="566928"/>
            <a:ext cx="10972800" cy="640080"/>
          </a:xfrm>
          <a:prstGeom prst="rect">
            <a:avLst/>
          </a:prstGeom>
          <a:noFill/>
        </p:spPr>
        <p:txBody>
          <a:bodyPr wrap="square">
            <a:spAutoFit/>
          </a:bodyPr>
          <a:lstStyle/>
          <a:p>
            <a:pPr algn="l"/>
            <a:r>
              <a:rPr sz="3200" b="1" i="0">
                <a:solidFill>
                  <a:srgbClr val="0C0F0A"/>
                </a:solidFill>
                <a:latin typeface="Calibri"/>
              </a:rPr>
              <a:t>Quatre briques, déployées dans l'ordre de la confiance</a:t>
            </a:r>
          </a:p>
        </p:txBody>
      </p:sp>
      <p:sp>
        <p:nvSpPr>
          <p:cNvPr id="4" name="TextBox 3"/>
          <p:cNvSpPr txBox="1"/>
          <p:nvPr/>
        </p:nvSpPr>
        <p:spPr>
          <a:xfrm>
            <a:off x="548640" y="1298448"/>
            <a:ext cx="10972800" cy="502920"/>
          </a:xfrm>
          <a:prstGeom prst="rect">
            <a:avLst/>
          </a:prstGeom>
          <a:noFill/>
        </p:spPr>
        <p:txBody>
          <a:bodyPr wrap="square">
            <a:spAutoFit/>
          </a:bodyPr>
          <a:lstStyle/>
          <a:p>
            <a:pPr algn="l"/>
            <a:r>
              <a:rPr sz="1300" b="0" i="0">
                <a:solidFill>
                  <a:srgbClr val="7A8070"/>
                </a:solidFill>
                <a:latin typeface="Calibri"/>
              </a:rPr>
              <a:t>Notre positionnement : devenir d'abord la référence de l'information de marché — « le Bloomberg des marchés de gros » — avant d'outiller la transaction.</a:t>
            </a:r>
          </a:p>
        </p:txBody>
      </p:sp>
      <p:sp>
        <p:nvSpPr>
          <p:cNvPr id="5" name="Rectangle 4"/>
          <p:cNvSpPr/>
          <p:nvPr/>
        </p:nvSpPr>
        <p:spPr>
          <a:xfrm>
            <a:off x="365760" y="1920240"/>
            <a:ext cx="11430000" cy="1005839"/>
          </a:xfrm>
          <a:prstGeom prst="rect">
            <a:avLst/>
          </a:prstGeom>
          <a:solidFill>
            <a:srgbClr val="F4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2103120"/>
            <a:ext cx="1005840" cy="502920"/>
          </a:xfrm>
          <a:prstGeom prst="rect">
            <a:avLst/>
          </a:prstGeom>
          <a:solidFill>
            <a:srgbClr val="5C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21408"/>
            <a:ext cx="1005840" cy="466344"/>
          </a:xfrm>
          <a:prstGeom prst="rect">
            <a:avLst/>
          </a:prstGeom>
          <a:noFill/>
        </p:spPr>
        <p:txBody>
          <a:bodyPr wrap="square">
            <a:spAutoFit/>
          </a:bodyPr>
          <a:lstStyle/>
          <a:p>
            <a:pPr algn="ctr"/>
            <a:r>
              <a:rPr sz="1100" b="1" i="0">
                <a:solidFill>
                  <a:srgbClr val="FFFFFF"/>
                </a:solidFill>
                <a:latin typeface="Calibri"/>
              </a:rPr>
              <a:t>IRIS</a:t>
            </a:r>
          </a:p>
        </p:txBody>
      </p:sp>
      <p:sp>
        <p:nvSpPr>
          <p:cNvPr id="8" name="TextBox 7"/>
          <p:cNvSpPr txBox="1"/>
          <p:nvPr/>
        </p:nvSpPr>
        <p:spPr>
          <a:xfrm>
            <a:off x="1645920" y="2011680"/>
            <a:ext cx="4114800" cy="411480"/>
          </a:xfrm>
          <a:prstGeom prst="rect">
            <a:avLst/>
          </a:prstGeom>
          <a:noFill/>
        </p:spPr>
        <p:txBody>
          <a:bodyPr wrap="square">
            <a:spAutoFit/>
          </a:bodyPr>
          <a:lstStyle/>
          <a:p>
            <a:pPr algn="l"/>
            <a:r>
              <a:rPr sz="1300" b="1" i="0">
                <a:solidFill>
                  <a:srgbClr val="0C0F0A"/>
                </a:solidFill>
                <a:latin typeface="Calibri"/>
              </a:rPr>
              <a:t>Observatoire de marché en temps réel</a:t>
            </a:r>
          </a:p>
        </p:txBody>
      </p:sp>
      <p:sp>
        <p:nvSpPr>
          <p:cNvPr id="9" name="TextBox 8"/>
          <p:cNvSpPr txBox="1"/>
          <p:nvPr/>
        </p:nvSpPr>
        <p:spPr>
          <a:xfrm>
            <a:off x="1645920" y="2441448"/>
            <a:ext cx="5943600" cy="502920"/>
          </a:xfrm>
          <a:prstGeom prst="rect">
            <a:avLst/>
          </a:prstGeom>
          <a:noFill/>
        </p:spPr>
        <p:txBody>
          <a:bodyPr wrap="square">
            <a:spAutoFit/>
          </a:bodyPr>
          <a:lstStyle/>
          <a:p>
            <a:pPr algn="l"/>
            <a:r>
              <a:rPr sz="1100" b="0" i="0">
                <a:solidFill>
                  <a:srgbClr val="0C0F0A"/>
                </a:solidFill>
                <a:latin typeface="Calibri"/>
              </a:rPr>
              <a:t>Cours du jour, comparaisons anonymisées, historiques de prix, alertes.</a:t>
            </a:r>
          </a:p>
        </p:txBody>
      </p:sp>
      <p:sp>
        <p:nvSpPr>
          <p:cNvPr id="10" name="TextBox 9"/>
          <p:cNvSpPr txBox="1"/>
          <p:nvPr/>
        </p:nvSpPr>
        <p:spPr>
          <a:xfrm>
            <a:off x="8778240" y="2194560"/>
            <a:ext cx="2834640" cy="411480"/>
          </a:xfrm>
          <a:prstGeom prst="rect">
            <a:avLst/>
          </a:prstGeom>
          <a:noFill/>
        </p:spPr>
        <p:txBody>
          <a:bodyPr wrap="square">
            <a:spAutoFit/>
          </a:bodyPr>
          <a:lstStyle/>
          <a:p>
            <a:pPr algn="r"/>
            <a:r>
              <a:rPr sz="1100" b="0" i="0">
                <a:solidFill>
                  <a:srgbClr val="B8922A"/>
                </a:solidFill>
                <a:latin typeface="Calibri"/>
              </a:rPr>
              <a:t>En cours de déploiement</a:t>
            </a:r>
          </a:p>
        </p:txBody>
      </p:sp>
      <p:sp>
        <p:nvSpPr>
          <p:cNvPr id="11" name="Rectangle 10"/>
          <p:cNvSpPr/>
          <p:nvPr/>
        </p:nvSpPr>
        <p:spPr>
          <a:xfrm>
            <a:off x="365760" y="2971800"/>
            <a:ext cx="11430000" cy="1005839"/>
          </a:xfrm>
          <a:prstGeom prst="rect">
            <a:avLst/>
          </a:prstGeom>
          <a:solidFill>
            <a:srgbClr val="ED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154680"/>
            <a:ext cx="1005840" cy="502920"/>
          </a:xfrm>
          <a:prstGeom prst="rect">
            <a:avLst/>
          </a:prstGeom>
          <a:solidFill>
            <a:srgbClr val="B8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172968"/>
            <a:ext cx="1005840" cy="466344"/>
          </a:xfrm>
          <a:prstGeom prst="rect">
            <a:avLst/>
          </a:prstGeom>
          <a:noFill/>
        </p:spPr>
        <p:txBody>
          <a:bodyPr wrap="square">
            <a:spAutoFit/>
          </a:bodyPr>
          <a:lstStyle/>
          <a:p>
            <a:pPr algn="ctr"/>
            <a:r>
              <a:rPr sz="1100" b="1" i="0">
                <a:solidFill>
                  <a:srgbClr val="0C0F0A"/>
                </a:solidFill>
                <a:latin typeface="Calibri"/>
              </a:rPr>
              <a:t>ORACLE</a:t>
            </a:r>
          </a:p>
        </p:txBody>
      </p:sp>
      <p:sp>
        <p:nvSpPr>
          <p:cNvPr id="14" name="TextBox 13"/>
          <p:cNvSpPr txBox="1"/>
          <p:nvPr/>
        </p:nvSpPr>
        <p:spPr>
          <a:xfrm>
            <a:off x="1645920" y="3063240"/>
            <a:ext cx="4114800" cy="411480"/>
          </a:xfrm>
          <a:prstGeom prst="rect">
            <a:avLst/>
          </a:prstGeom>
          <a:noFill/>
        </p:spPr>
        <p:txBody>
          <a:bodyPr wrap="square">
            <a:spAutoFit/>
          </a:bodyPr>
          <a:lstStyle/>
          <a:p>
            <a:pPr algn="l"/>
            <a:r>
              <a:rPr sz="1300" b="1" i="0">
                <a:solidFill>
                  <a:srgbClr val="0C0F0A"/>
                </a:solidFill>
                <a:latin typeface="Calibri"/>
              </a:rPr>
              <a:t>Couche d'anticipation</a:t>
            </a:r>
          </a:p>
        </p:txBody>
      </p:sp>
      <p:sp>
        <p:nvSpPr>
          <p:cNvPr id="15" name="TextBox 14"/>
          <p:cNvSpPr txBox="1"/>
          <p:nvPr/>
        </p:nvSpPr>
        <p:spPr>
          <a:xfrm>
            <a:off x="1645920" y="3493008"/>
            <a:ext cx="5943600" cy="502920"/>
          </a:xfrm>
          <a:prstGeom prst="rect">
            <a:avLst/>
          </a:prstGeom>
          <a:noFill/>
        </p:spPr>
        <p:txBody>
          <a:bodyPr wrap="square">
            <a:spAutoFit/>
          </a:bodyPr>
          <a:lstStyle/>
          <a:p>
            <a:pPr algn="l"/>
            <a:r>
              <a:rPr sz="1100" b="0" i="0">
                <a:solidFill>
                  <a:srgbClr val="0C0F0A"/>
                </a:solidFill>
                <a:latin typeface="Calibri"/>
              </a:rPr>
              <a:t>Alertes sur prix anormaux, anticipation des pics saisonniers à 7-14 jours, substitutions.</a:t>
            </a:r>
          </a:p>
        </p:txBody>
      </p:sp>
      <p:sp>
        <p:nvSpPr>
          <p:cNvPr id="16" name="TextBox 15"/>
          <p:cNvSpPr txBox="1"/>
          <p:nvPr/>
        </p:nvSpPr>
        <p:spPr>
          <a:xfrm>
            <a:off x="8778240" y="3246120"/>
            <a:ext cx="2834640" cy="411480"/>
          </a:xfrm>
          <a:prstGeom prst="rect">
            <a:avLst/>
          </a:prstGeom>
          <a:noFill/>
        </p:spPr>
        <p:txBody>
          <a:bodyPr wrap="square">
            <a:spAutoFit/>
          </a:bodyPr>
          <a:lstStyle/>
          <a:p>
            <a:pPr algn="r"/>
            <a:r>
              <a:rPr sz="1100" b="0" i="0">
                <a:solidFill>
                  <a:srgbClr val="B8922A"/>
                </a:solidFill>
                <a:latin typeface="Calibri"/>
              </a:rPr>
              <a:t>2e semestre</a:t>
            </a:r>
          </a:p>
        </p:txBody>
      </p:sp>
      <p:sp>
        <p:nvSpPr>
          <p:cNvPr id="17" name="Rectangle 16"/>
          <p:cNvSpPr/>
          <p:nvPr/>
        </p:nvSpPr>
        <p:spPr>
          <a:xfrm>
            <a:off x="365760" y="4023360"/>
            <a:ext cx="11430000" cy="1005839"/>
          </a:xfrm>
          <a:prstGeom prst="rect">
            <a:avLst/>
          </a:prstGeom>
          <a:solidFill>
            <a:srgbClr val="F4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206240"/>
            <a:ext cx="1005840" cy="502920"/>
          </a:xfrm>
          <a:prstGeom prst="rect">
            <a:avLst/>
          </a:prstGeom>
          <a:solidFill>
            <a:srgbClr val="7A8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224528"/>
            <a:ext cx="1005840" cy="466344"/>
          </a:xfrm>
          <a:prstGeom prst="rect">
            <a:avLst/>
          </a:prstGeom>
          <a:noFill/>
        </p:spPr>
        <p:txBody>
          <a:bodyPr wrap="square">
            <a:spAutoFit/>
          </a:bodyPr>
          <a:lstStyle/>
          <a:p>
            <a:pPr algn="ctr"/>
            <a:r>
              <a:rPr sz="1100" b="1" i="0">
                <a:solidFill>
                  <a:srgbClr val="FFFFFF"/>
                </a:solidFill>
                <a:latin typeface="Calibri"/>
              </a:rPr>
              <a:t>NEXUS</a:t>
            </a:r>
          </a:p>
        </p:txBody>
      </p:sp>
      <p:sp>
        <p:nvSpPr>
          <p:cNvPr id="20" name="TextBox 19"/>
          <p:cNvSpPr txBox="1"/>
          <p:nvPr/>
        </p:nvSpPr>
        <p:spPr>
          <a:xfrm>
            <a:off x="1645920" y="4114800"/>
            <a:ext cx="4114800" cy="411480"/>
          </a:xfrm>
          <a:prstGeom prst="rect">
            <a:avLst/>
          </a:prstGeom>
          <a:noFill/>
        </p:spPr>
        <p:txBody>
          <a:bodyPr wrap="square">
            <a:spAutoFit/>
          </a:bodyPr>
          <a:lstStyle/>
          <a:p>
            <a:pPr algn="l"/>
            <a:r>
              <a:rPr sz="1300" b="1" i="0">
                <a:solidFill>
                  <a:srgbClr val="0C0F0A"/>
                </a:solidFill>
                <a:latin typeface="Calibri"/>
              </a:rPr>
              <a:t>Déploiement multi-sites</a:t>
            </a:r>
          </a:p>
        </p:txBody>
      </p:sp>
      <p:sp>
        <p:nvSpPr>
          <p:cNvPr id="21" name="TextBox 20"/>
          <p:cNvSpPr txBox="1"/>
          <p:nvPr/>
        </p:nvSpPr>
        <p:spPr>
          <a:xfrm>
            <a:off x="1645920" y="4544568"/>
            <a:ext cx="5943600" cy="502920"/>
          </a:xfrm>
          <a:prstGeom prst="rect">
            <a:avLst/>
          </a:prstGeom>
          <a:noFill/>
        </p:spPr>
        <p:txBody>
          <a:bodyPr wrap="square">
            <a:spAutoFit/>
          </a:bodyPr>
          <a:lstStyle/>
          <a:p>
            <a:pPr algn="l"/>
            <a:r>
              <a:rPr sz="1100" b="0" i="0">
                <a:solidFill>
                  <a:srgbClr val="0C0F0A"/>
                </a:solidFill>
                <a:latin typeface="Calibri"/>
              </a:rPr>
              <a:t>La même infrastructure répliquée marché par marché, données cloisonnées par site.</a:t>
            </a:r>
          </a:p>
        </p:txBody>
      </p:sp>
      <p:sp>
        <p:nvSpPr>
          <p:cNvPr id="22" name="TextBox 21"/>
          <p:cNvSpPr txBox="1"/>
          <p:nvPr/>
        </p:nvSpPr>
        <p:spPr>
          <a:xfrm>
            <a:off x="8778240" y="4297680"/>
            <a:ext cx="2834640" cy="411480"/>
          </a:xfrm>
          <a:prstGeom prst="rect">
            <a:avLst/>
          </a:prstGeom>
          <a:noFill/>
        </p:spPr>
        <p:txBody>
          <a:bodyPr wrap="square">
            <a:spAutoFit/>
          </a:bodyPr>
          <a:lstStyle/>
          <a:p>
            <a:pPr algn="r"/>
            <a:r>
              <a:rPr sz="1100" b="0" i="0">
                <a:solidFill>
                  <a:srgbClr val="7A8070"/>
                </a:solidFill>
                <a:latin typeface="Calibri"/>
              </a:rPr>
              <a:t>Horizon 12 mois</a:t>
            </a:r>
          </a:p>
        </p:txBody>
      </p:sp>
      <p:sp>
        <p:nvSpPr>
          <p:cNvPr id="23" name="Rectangle 22"/>
          <p:cNvSpPr/>
          <p:nvPr/>
        </p:nvSpPr>
        <p:spPr>
          <a:xfrm>
            <a:off x="365760" y="5074920"/>
            <a:ext cx="11430000" cy="1005839"/>
          </a:xfrm>
          <a:prstGeom prst="rect">
            <a:avLst/>
          </a:prstGeom>
          <a:solidFill>
            <a:srgbClr val="ED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5257800"/>
            <a:ext cx="1005840" cy="502920"/>
          </a:xfrm>
          <a:prstGeom prst="rect">
            <a:avLst/>
          </a:prstGeom>
          <a:solidFill>
            <a:srgbClr val="0C0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276088"/>
            <a:ext cx="1005840" cy="466344"/>
          </a:xfrm>
          <a:prstGeom prst="rect">
            <a:avLst/>
          </a:prstGeom>
          <a:noFill/>
        </p:spPr>
        <p:txBody>
          <a:bodyPr wrap="square">
            <a:spAutoFit/>
          </a:bodyPr>
          <a:lstStyle/>
          <a:p>
            <a:pPr algn="ctr"/>
            <a:r>
              <a:rPr sz="1100" b="1" i="0">
                <a:solidFill>
                  <a:srgbClr val="F4F0E8"/>
                </a:solidFill>
                <a:latin typeface="Calibri"/>
              </a:rPr>
              <a:t>AGORA</a:t>
            </a:r>
          </a:p>
        </p:txBody>
      </p:sp>
      <p:sp>
        <p:nvSpPr>
          <p:cNvPr id="26" name="TextBox 25"/>
          <p:cNvSpPr txBox="1"/>
          <p:nvPr/>
        </p:nvSpPr>
        <p:spPr>
          <a:xfrm>
            <a:off x="1645920" y="5166359"/>
            <a:ext cx="4114800" cy="411480"/>
          </a:xfrm>
          <a:prstGeom prst="rect">
            <a:avLst/>
          </a:prstGeom>
          <a:noFill/>
        </p:spPr>
        <p:txBody>
          <a:bodyPr wrap="square">
            <a:spAutoFit/>
          </a:bodyPr>
          <a:lstStyle/>
          <a:p>
            <a:pPr algn="l"/>
            <a:r>
              <a:rPr sz="1300" b="1" i="0">
                <a:solidFill>
                  <a:srgbClr val="0C0F0A"/>
                </a:solidFill>
                <a:latin typeface="Calibri"/>
              </a:rPr>
              <a:t>Facilitation des transactions</a:t>
            </a:r>
          </a:p>
        </p:txBody>
      </p:sp>
      <p:sp>
        <p:nvSpPr>
          <p:cNvPr id="27" name="TextBox 26"/>
          <p:cNvSpPr txBox="1"/>
          <p:nvPr/>
        </p:nvSpPr>
        <p:spPr>
          <a:xfrm>
            <a:off x="1645920" y="5596128"/>
            <a:ext cx="5943600" cy="502920"/>
          </a:xfrm>
          <a:prstGeom prst="rect">
            <a:avLst/>
          </a:prstGeom>
          <a:noFill/>
        </p:spPr>
        <p:txBody>
          <a:bodyPr wrap="square">
            <a:spAutoFit/>
          </a:bodyPr>
          <a:lstStyle/>
          <a:p>
            <a:pPr algn="l"/>
            <a:r>
              <a:rPr sz="1100" b="0" i="0">
                <a:solidFill>
                  <a:srgbClr val="0C0F0A"/>
                </a:solidFill>
                <a:latin typeface="Calibri"/>
              </a:rPr>
              <a:t>Mise en relation et passation de commandes entre professionnels.</a:t>
            </a:r>
          </a:p>
        </p:txBody>
      </p:sp>
      <p:sp>
        <p:nvSpPr>
          <p:cNvPr id="28" name="TextBox 27"/>
          <p:cNvSpPr txBox="1"/>
          <p:nvPr/>
        </p:nvSpPr>
        <p:spPr>
          <a:xfrm>
            <a:off x="8778240" y="5349240"/>
            <a:ext cx="2834640" cy="411480"/>
          </a:xfrm>
          <a:prstGeom prst="rect">
            <a:avLst/>
          </a:prstGeom>
          <a:noFill/>
        </p:spPr>
        <p:txBody>
          <a:bodyPr wrap="square">
            <a:spAutoFit/>
          </a:bodyPr>
          <a:lstStyle/>
          <a:p>
            <a:pPr algn="r"/>
            <a:r>
              <a:rPr sz="1100" b="0" i="0">
                <a:solidFill>
                  <a:srgbClr val="7A8070"/>
                </a:solidFill>
                <a:latin typeface="Calibri"/>
              </a:rPr>
              <a:t>Au-delà de 12 mois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DE8DC"/>
        </a:solidFill>
        <a:effectLst/>
      </p:bgPr>
    </p:bg>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r>
              <a:rPr sz="1200" b="0" i="0">
                <a:solidFill>
                  <a:srgbClr val="5C7A4E"/>
                </a:solidFill>
                <a:latin typeface="Calibri"/>
              </a:rPr>
              <a:t>OÙ NOUS ALLONS</a:t>
            </a:r>
          </a:p>
        </p:txBody>
      </p:sp>
      <p:sp>
        <p:nvSpPr>
          <p:cNvPr id="3" name="TextBox 2"/>
          <p:cNvSpPr txBox="1"/>
          <p:nvPr/>
        </p:nvSpPr>
        <p:spPr>
          <a:xfrm>
            <a:off x="548640" y="621792"/>
            <a:ext cx="10972800" cy="731520"/>
          </a:xfrm>
          <a:prstGeom prst="rect">
            <a:avLst/>
          </a:prstGeom>
          <a:noFill/>
        </p:spPr>
        <p:txBody>
          <a:bodyPr wrap="square">
            <a:spAutoFit/>
          </a:bodyPr>
          <a:lstStyle/>
          <a:p>
            <a:pPr algn="l"/>
            <a:r>
              <a:rPr sz="3200" b="1" i="0">
                <a:solidFill>
                  <a:srgbClr val="0C0F0A"/>
                </a:solidFill>
                <a:latin typeface="Calibri"/>
              </a:rPr>
              <a:t>Une feuille de route prudente, jalonnée par les résultats</a:t>
            </a:r>
          </a:p>
        </p:txBody>
      </p:sp>
      <p:sp>
        <p:nvSpPr>
          <p:cNvPr id="4" name="Oval 3"/>
          <p:cNvSpPr/>
          <p:nvPr/>
        </p:nvSpPr>
        <p:spPr>
          <a:xfrm>
            <a:off x="502920" y="1709928"/>
            <a:ext cx="201168" cy="201168"/>
          </a:xfrm>
          <a:prstGeom prst="ellipse">
            <a:avLst/>
          </a:prstGeom>
          <a:solidFill>
            <a:srgbClr val="B89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89788" y="1920240"/>
            <a:ext cx="27432" cy="914400"/>
          </a:xfrm>
          <a:prstGeom prst="rect">
            <a:avLst/>
          </a:prstGeom>
          <a:solidFill>
            <a:srgbClr val="7A8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2743200" cy="320040"/>
          </a:xfrm>
          <a:prstGeom prst="rect">
            <a:avLst/>
          </a:prstGeom>
          <a:noFill/>
        </p:spPr>
        <p:txBody>
          <a:bodyPr wrap="square">
            <a:spAutoFit/>
          </a:bodyPr>
          <a:lstStyle/>
          <a:p>
            <a:pPr algn="l"/>
            <a:r>
              <a:rPr sz="1300" b="1" i="0">
                <a:solidFill>
                  <a:srgbClr val="0C0F0A"/>
                </a:solidFill>
                <a:latin typeface="Calibri"/>
              </a:rPr>
              <a:t>Réalisé 2026</a:t>
            </a:r>
          </a:p>
        </p:txBody>
      </p:sp>
      <p:sp>
        <p:nvSpPr>
          <p:cNvPr id="7" name="TextBox 6"/>
          <p:cNvSpPr txBox="1"/>
          <p:nvPr/>
        </p:nvSpPr>
        <p:spPr>
          <a:xfrm>
            <a:off x="868680" y="1938528"/>
            <a:ext cx="10515600" cy="347472"/>
          </a:xfrm>
          <a:prstGeom prst="rect">
            <a:avLst/>
          </a:prstGeom>
          <a:noFill/>
        </p:spPr>
        <p:txBody>
          <a:bodyPr wrap="square">
            <a:spAutoFit/>
          </a:bodyPr>
          <a:lstStyle/>
          <a:p>
            <a:pPr algn="l"/>
            <a:r>
              <a:rPr sz="1400" b="1" i="0">
                <a:solidFill>
                  <a:srgbClr val="0C0F0A"/>
                </a:solidFill>
                <a:latin typeface="Calibri"/>
              </a:rPr>
              <a:t>Fondation et préparation pilote</a:t>
            </a:r>
          </a:p>
        </p:txBody>
      </p:sp>
      <p:sp>
        <p:nvSpPr>
          <p:cNvPr id="8" name="TextBox 7"/>
          <p:cNvSpPr txBox="1"/>
          <p:nvPr/>
        </p:nvSpPr>
        <p:spPr>
          <a:xfrm>
            <a:off x="868680" y="2304288"/>
            <a:ext cx="10515600" cy="411480"/>
          </a:xfrm>
          <a:prstGeom prst="rect">
            <a:avLst/>
          </a:prstGeom>
          <a:noFill/>
        </p:spPr>
        <p:txBody>
          <a:bodyPr wrap="square">
            <a:spAutoFit/>
          </a:bodyPr>
          <a:lstStyle/>
          <a:p>
            <a:pPr algn="l"/>
            <a:r>
              <a:rPr sz="1200" b="0" i="0">
                <a:solidFill>
                  <a:srgbClr val="7A8070"/>
                </a:solidFill>
                <a:latin typeface="Calibri"/>
              </a:rPr>
              <a:t>Constitution de l'équipe, conception IRIS, cadrage juridique.</a:t>
            </a:r>
          </a:p>
        </p:txBody>
      </p:sp>
      <p:sp>
        <p:nvSpPr>
          <p:cNvPr id="9" name="Oval 8"/>
          <p:cNvSpPr/>
          <p:nvPr/>
        </p:nvSpPr>
        <p:spPr>
          <a:xfrm>
            <a:off x="502920" y="2916936"/>
            <a:ext cx="201168" cy="201168"/>
          </a:xfrm>
          <a:prstGeom prst="ellipse">
            <a:avLst/>
          </a:prstGeom>
          <a:solidFill>
            <a:srgbClr val="5C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9788" y="3127248"/>
            <a:ext cx="27432" cy="914400"/>
          </a:xfrm>
          <a:prstGeom prst="rect">
            <a:avLst/>
          </a:prstGeom>
          <a:solidFill>
            <a:srgbClr val="7A8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07208"/>
            <a:ext cx="2743200" cy="320040"/>
          </a:xfrm>
          <a:prstGeom prst="rect">
            <a:avLst/>
          </a:prstGeom>
          <a:noFill/>
        </p:spPr>
        <p:txBody>
          <a:bodyPr wrap="square">
            <a:spAutoFit/>
          </a:bodyPr>
          <a:lstStyle/>
          <a:p>
            <a:pPr algn="l"/>
            <a:r>
              <a:rPr sz="1300" b="1" i="0">
                <a:solidFill>
                  <a:srgbClr val="5C7A4E"/>
                </a:solidFill>
                <a:latin typeface="Calibri"/>
              </a:rPr>
              <a:t>Court terme — en cours</a:t>
            </a:r>
          </a:p>
        </p:txBody>
      </p:sp>
      <p:sp>
        <p:nvSpPr>
          <p:cNvPr id="12" name="TextBox 11"/>
          <p:cNvSpPr txBox="1"/>
          <p:nvPr/>
        </p:nvSpPr>
        <p:spPr>
          <a:xfrm>
            <a:off x="868680" y="3145536"/>
            <a:ext cx="10515600" cy="347472"/>
          </a:xfrm>
          <a:prstGeom prst="rect">
            <a:avLst/>
          </a:prstGeom>
          <a:noFill/>
        </p:spPr>
        <p:txBody>
          <a:bodyPr wrap="square">
            <a:spAutoFit/>
          </a:bodyPr>
          <a:lstStyle/>
          <a:p>
            <a:pPr algn="l"/>
            <a:r>
              <a:rPr sz="1400" b="1" i="0">
                <a:solidFill>
                  <a:srgbClr val="0C0F0A"/>
                </a:solidFill>
                <a:latin typeface="Calibri"/>
              </a:rPr>
              <a:t>Premiers partenariats pilotes</a:t>
            </a:r>
          </a:p>
        </p:txBody>
      </p:sp>
      <p:sp>
        <p:nvSpPr>
          <p:cNvPr id="13" name="TextBox 12"/>
          <p:cNvSpPr txBox="1"/>
          <p:nvPr/>
        </p:nvSpPr>
        <p:spPr>
          <a:xfrm>
            <a:off x="868680" y="3511296"/>
            <a:ext cx="10515600" cy="411480"/>
          </a:xfrm>
          <a:prstGeom prst="rect">
            <a:avLst/>
          </a:prstGeom>
          <a:noFill/>
        </p:spPr>
        <p:txBody>
          <a:bodyPr wrap="square">
            <a:spAutoFit/>
          </a:bodyPr>
          <a:lstStyle/>
          <a:p>
            <a:pPr algn="l"/>
            <a:r>
              <a:rPr sz="1200" b="0" i="0">
                <a:solidFill>
                  <a:srgbClr val="7A8070"/>
                </a:solidFill>
                <a:latin typeface="Calibri"/>
              </a:rPr>
              <a:t>Signature partenariats gratuits fournisseurs, base de données cours propriétaire, conformité RGPD.</a:t>
            </a:r>
          </a:p>
        </p:txBody>
      </p:sp>
      <p:sp>
        <p:nvSpPr>
          <p:cNvPr id="14" name="Oval 13"/>
          <p:cNvSpPr/>
          <p:nvPr/>
        </p:nvSpPr>
        <p:spPr>
          <a:xfrm>
            <a:off x="502920" y="4123944"/>
            <a:ext cx="201168" cy="201168"/>
          </a:xfrm>
          <a:prstGeom prst="ellipse">
            <a:avLst/>
          </a:prstGeom>
          <a:solidFill>
            <a:srgbClr val="EDE8DC"/>
          </a:solidFill>
          <a:ln w="19050">
            <a:solidFill>
              <a:srgbClr val="7A8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9788" y="4334256"/>
            <a:ext cx="27432" cy="914400"/>
          </a:xfrm>
          <a:prstGeom prst="rect">
            <a:avLst/>
          </a:prstGeom>
          <a:solidFill>
            <a:srgbClr val="7A8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14216"/>
            <a:ext cx="2743200" cy="320040"/>
          </a:xfrm>
          <a:prstGeom prst="rect">
            <a:avLst/>
          </a:prstGeom>
          <a:noFill/>
        </p:spPr>
        <p:txBody>
          <a:bodyPr wrap="square">
            <a:spAutoFit/>
          </a:bodyPr>
          <a:lstStyle/>
          <a:p>
            <a:pPr algn="l"/>
            <a:r>
              <a:rPr sz="1300" b="0" i="0">
                <a:solidFill>
                  <a:srgbClr val="0C0F0A"/>
                </a:solidFill>
                <a:latin typeface="Calibri"/>
              </a:rPr>
              <a:t>6–12 mois</a:t>
            </a:r>
          </a:p>
        </p:txBody>
      </p:sp>
      <p:sp>
        <p:nvSpPr>
          <p:cNvPr id="17" name="TextBox 16"/>
          <p:cNvSpPr txBox="1"/>
          <p:nvPr/>
        </p:nvSpPr>
        <p:spPr>
          <a:xfrm>
            <a:off x="868680" y="4352544"/>
            <a:ext cx="10515600" cy="347472"/>
          </a:xfrm>
          <a:prstGeom prst="rect">
            <a:avLst/>
          </a:prstGeom>
          <a:noFill/>
        </p:spPr>
        <p:txBody>
          <a:bodyPr wrap="square">
            <a:spAutoFit/>
          </a:bodyPr>
          <a:lstStyle/>
          <a:p>
            <a:pPr algn="l"/>
            <a:r>
              <a:rPr sz="1400" b="1" i="0">
                <a:solidFill>
                  <a:srgbClr val="0C0F0A"/>
                </a:solidFill>
                <a:latin typeface="Calibri"/>
              </a:rPr>
              <a:t>Premiers revenus récurrents</a:t>
            </a:r>
          </a:p>
        </p:txBody>
      </p:sp>
      <p:sp>
        <p:nvSpPr>
          <p:cNvPr id="18" name="TextBox 17"/>
          <p:cNvSpPr txBox="1"/>
          <p:nvPr/>
        </p:nvSpPr>
        <p:spPr>
          <a:xfrm>
            <a:off x="868680" y="4718304"/>
            <a:ext cx="10515600" cy="411480"/>
          </a:xfrm>
          <a:prstGeom prst="rect">
            <a:avLst/>
          </a:prstGeom>
          <a:noFill/>
        </p:spPr>
        <p:txBody>
          <a:bodyPr wrap="square">
            <a:spAutoFit/>
          </a:bodyPr>
          <a:lstStyle/>
          <a:p>
            <a:pPr algn="l"/>
            <a:r>
              <a:rPr sz="1200" b="0" i="0">
                <a:solidFill>
                  <a:srgbClr val="7A8070"/>
                </a:solidFill>
                <a:latin typeface="Calibri"/>
              </a:rPr>
              <a:t>Abonnement acheteurs, levée de fonds amorçage, JEI, CIR.</a:t>
            </a:r>
          </a:p>
        </p:txBody>
      </p:sp>
      <p:sp>
        <p:nvSpPr>
          <p:cNvPr id="19" name="Oval 18"/>
          <p:cNvSpPr/>
          <p:nvPr/>
        </p:nvSpPr>
        <p:spPr>
          <a:xfrm>
            <a:off x="502920" y="5330952"/>
            <a:ext cx="201168" cy="201168"/>
          </a:xfrm>
          <a:prstGeom prst="ellipse">
            <a:avLst/>
          </a:prstGeom>
          <a:solidFill>
            <a:srgbClr val="EDE8DC"/>
          </a:solidFill>
          <a:ln w="19050">
            <a:solidFill>
              <a:srgbClr val="7A8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221224"/>
            <a:ext cx="2743200" cy="320040"/>
          </a:xfrm>
          <a:prstGeom prst="rect">
            <a:avLst/>
          </a:prstGeom>
          <a:noFill/>
        </p:spPr>
        <p:txBody>
          <a:bodyPr wrap="square">
            <a:spAutoFit/>
          </a:bodyPr>
          <a:lstStyle/>
          <a:p>
            <a:pPr algn="l"/>
            <a:r>
              <a:rPr sz="1300" b="0" i="0">
                <a:solidFill>
                  <a:srgbClr val="0C0F0A"/>
                </a:solidFill>
                <a:latin typeface="Calibri"/>
              </a:rPr>
              <a:t>12–36 mois</a:t>
            </a:r>
          </a:p>
        </p:txBody>
      </p:sp>
      <p:sp>
        <p:nvSpPr>
          <p:cNvPr id="21" name="TextBox 20"/>
          <p:cNvSpPr txBox="1"/>
          <p:nvPr/>
        </p:nvSpPr>
        <p:spPr>
          <a:xfrm>
            <a:off x="868680" y="5559552"/>
            <a:ext cx="10515600" cy="347472"/>
          </a:xfrm>
          <a:prstGeom prst="rect">
            <a:avLst/>
          </a:prstGeom>
          <a:noFill/>
        </p:spPr>
        <p:txBody>
          <a:bodyPr wrap="square">
            <a:spAutoFit/>
          </a:bodyPr>
          <a:lstStyle/>
          <a:p>
            <a:pPr algn="l"/>
            <a:r>
              <a:rPr sz="1400" b="1" i="0">
                <a:solidFill>
                  <a:srgbClr val="0C0F0A"/>
                </a:solidFill>
                <a:latin typeface="Calibri"/>
              </a:rPr>
              <a:t>Déploiement national</a:t>
            </a:r>
          </a:p>
        </p:txBody>
      </p:sp>
      <p:sp>
        <p:nvSpPr>
          <p:cNvPr id="22" name="TextBox 21"/>
          <p:cNvSpPr txBox="1"/>
          <p:nvPr/>
        </p:nvSpPr>
        <p:spPr>
          <a:xfrm>
            <a:off x="868680" y="5925312"/>
            <a:ext cx="10515600" cy="411480"/>
          </a:xfrm>
          <a:prstGeom prst="rect">
            <a:avLst/>
          </a:prstGeom>
          <a:noFill/>
        </p:spPr>
        <p:txBody>
          <a:bodyPr wrap="square">
            <a:spAutoFit/>
          </a:bodyPr>
          <a:lstStyle/>
          <a:p>
            <a:pPr algn="l"/>
            <a:r>
              <a:rPr sz="1200" b="0" i="0">
                <a:solidFill>
                  <a:srgbClr val="7A8070"/>
                </a:solidFill>
                <a:latin typeface="Calibri"/>
              </a:rPr>
              <a:t>Réplication sur plusieurs marchés, partenariats FranceAgriMer, indices de prix.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F17"/>
        </a:solidFill>
        <a:effectLst/>
      </p:bgPr>
    </p:bg>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r>
              <a:rPr sz="1200" b="0" i="0">
                <a:solidFill>
                  <a:srgbClr val="B8922A"/>
                </a:solidFill>
                <a:latin typeface="Calibri"/>
              </a:rPr>
              <a:t>RETOMBÉES POUR LE TERRITOIRE</a:t>
            </a:r>
          </a:p>
        </p:txBody>
      </p:sp>
      <p:sp>
        <p:nvSpPr>
          <p:cNvPr id="3" name="TextBox 2"/>
          <p:cNvSpPr txBox="1"/>
          <p:nvPr/>
        </p:nvSpPr>
        <p:spPr>
          <a:xfrm>
            <a:off x="548640" y="640080"/>
            <a:ext cx="10972800" cy="640080"/>
          </a:xfrm>
          <a:prstGeom prst="rect">
            <a:avLst/>
          </a:prstGeom>
          <a:noFill/>
        </p:spPr>
        <p:txBody>
          <a:bodyPr wrap="square">
            <a:spAutoFit/>
          </a:bodyPr>
          <a:lstStyle/>
          <a:p>
            <a:pPr algn="l"/>
            <a:r>
              <a:rPr sz="3200" b="1" i="0">
                <a:solidFill>
                  <a:srgbClr val="F4F0E8"/>
                </a:solidFill>
                <a:latin typeface="Calibri"/>
              </a:rPr>
              <a:t>Ce que le projet apporte localement</a:t>
            </a:r>
          </a:p>
        </p:txBody>
      </p:sp>
      <p:sp>
        <p:nvSpPr>
          <p:cNvPr id="4" name="Rectangle 3"/>
          <p:cNvSpPr/>
          <p:nvPr/>
        </p:nvSpPr>
        <p:spPr>
          <a:xfrm>
            <a:off x="548640" y="1508760"/>
            <a:ext cx="3566160" cy="4846320"/>
          </a:xfrm>
          <a:prstGeom prst="rect">
            <a:avLst/>
          </a:prstGeom>
          <a:solidFill>
            <a:srgbClr val="22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08760"/>
            <a:ext cx="3566160" cy="82296"/>
          </a:xfrm>
          <a:prstGeom prst="rect">
            <a:avLst/>
          </a:prstGeom>
          <a:solidFill>
            <a:srgbClr val="5C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3200400" cy="685800"/>
          </a:xfrm>
          <a:prstGeom prst="rect">
            <a:avLst/>
          </a:prstGeom>
          <a:noFill/>
        </p:spPr>
        <p:txBody>
          <a:bodyPr wrap="square">
            <a:spAutoFit/>
          </a:bodyPr>
          <a:lstStyle/>
          <a:p>
            <a:pPr algn="l"/>
            <a:r>
              <a:rPr sz="1600" b="1" i="0">
                <a:solidFill>
                  <a:srgbClr val="F4F0E8"/>
                </a:solidFill>
                <a:latin typeface="Calibri"/>
              </a:rPr>
              <a:t>Visibilité économique</a:t>
            </a:r>
          </a:p>
        </p:txBody>
      </p:sp>
      <p:sp>
        <p:nvSpPr>
          <p:cNvPr id="7" name="TextBox 6"/>
          <p:cNvSpPr txBox="1"/>
          <p:nvPr/>
        </p:nvSpPr>
        <p:spPr>
          <a:xfrm>
            <a:off x="731520" y="2560320"/>
            <a:ext cx="3200400" cy="3474720"/>
          </a:xfrm>
          <a:prstGeom prst="rect">
            <a:avLst/>
          </a:prstGeom>
          <a:noFill/>
        </p:spPr>
        <p:txBody>
          <a:bodyPr wrap="square">
            <a:spAutoFit/>
          </a:bodyPr>
          <a:lstStyle/>
          <a:p>
            <a:pPr algn="l"/>
            <a:r>
              <a:rPr sz="1300" b="0" i="0">
                <a:solidFill>
                  <a:srgbClr val="F4F0E8"/>
                </a:solidFill>
                <a:latin typeface="Calibri"/>
              </a:rPr>
              <a:t>Les producteurs et grossistes locaux accèdent gratuitement à une lecture fiable de leur marché.</a:t>
            </a:r>
          </a:p>
        </p:txBody>
      </p:sp>
      <p:sp>
        <p:nvSpPr>
          <p:cNvPr id="8" name="Rectangle 7"/>
          <p:cNvSpPr/>
          <p:nvPr/>
        </p:nvSpPr>
        <p:spPr>
          <a:xfrm>
            <a:off x="4361688" y="1508760"/>
            <a:ext cx="3566160" cy="4846320"/>
          </a:xfrm>
          <a:prstGeom prst="rect">
            <a:avLst/>
          </a:prstGeom>
          <a:solidFill>
            <a:srgbClr val="22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61688" y="1508760"/>
            <a:ext cx="3566160" cy="82296"/>
          </a:xfrm>
          <a:prstGeom prst="rect">
            <a:avLst/>
          </a:prstGeom>
          <a:solidFill>
            <a:srgbClr val="5C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737360"/>
            <a:ext cx="3200400" cy="685800"/>
          </a:xfrm>
          <a:prstGeom prst="rect">
            <a:avLst/>
          </a:prstGeom>
          <a:noFill/>
        </p:spPr>
        <p:txBody>
          <a:bodyPr wrap="square">
            <a:spAutoFit/>
          </a:bodyPr>
          <a:lstStyle/>
          <a:p>
            <a:pPr algn="l"/>
            <a:r>
              <a:rPr sz="1600" b="1" i="0">
                <a:solidFill>
                  <a:srgbClr val="F4F0E8"/>
                </a:solidFill>
                <a:latin typeface="Calibri"/>
              </a:rPr>
              <a:t>Modernisation des circuits de gros</a:t>
            </a:r>
          </a:p>
        </p:txBody>
      </p:sp>
      <p:sp>
        <p:nvSpPr>
          <p:cNvPr id="11" name="TextBox 10"/>
          <p:cNvSpPr txBox="1"/>
          <p:nvPr/>
        </p:nvSpPr>
        <p:spPr>
          <a:xfrm>
            <a:off x="4544568" y="2560320"/>
            <a:ext cx="3200400" cy="3474720"/>
          </a:xfrm>
          <a:prstGeom prst="rect">
            <a:avLst/>
          </a:prstGeom>
          <a:noFill/>
        </p:spPr>
        <p:txBody>
          <a:bodyPr wrap="square">
            <a:spAutoFit/>
          </a:bodyPr>
          <a:lstStyle/>
          <a:p>
            <a:pPr algn="l"/>
            <a:r>
              <a:rPr sz="1300" b="0" i="0">
                <a:solidFill>
                  <a:srgbClr val="F4F0E8"/>
                </a:solidFill>
                <a:latin typeface="Calibri"/>
              </a:rPr>
              <a:t>Une infrastructure numérique pensée pour les usages réels du métier.</a:t>
            </a:r>
          </a:p>
        </p:txBody>
      </p:sp>
      <p:sp>
        <p:nvSpPr>
          <p:cNvPr id="12" name="Rectangle 11"/>
          <p:cNvSpPr/>
          <p:nvPr/>
        </p:nvSpPr>
        <p:spPr>
          <a:xfrm>
            <a:off x="8174736" y="1508760"/>
            <a:ext cx="3566160" cy="4846320"/>
          </a:xfrm>
          <a:prstGeom prst="rect">
            <a:avLst/>
          </a:prstGeom>
          <a:solidFill>
            <a:srgbClr val="222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74736" y="1508760"/>
            <a:ext cx="3566160" cy="82296"/>
          </a:xfrm>
          <a:prstGeom prst="rect">
            <a:avLst/>
          </a:prstGeom>
          <a:solidFill>
            <a:srgbClr val="5C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7615" y="1737360"/>
            <a:ext cx="3200400" cy="685800"/>
          </a:xfrm>
          <a:prstGeom prst="rect">
            <a:avLst/>
          </a:prstGeom>
          <a:noFill/>
        </p:spPr>
        <p:txBody>
          <a:bodyPr wrap="square">
            <a:spAutoFit/>
          </a:bodyPr>
          <a:lstStyle/>
          <a:p>
            <a:pPr algn="l"/>
            <a:r>
              <a:rPr sz="1600" b="1" i="0">
                <a:solidFill>
                  <a:srgbClr val="F4F0E8"/>
                </a:solidFill>
                <a:latin typeface="Calibri"/>
              </a:rPr>
              <a:t>Emplois qualifiés en région</a:t>
            </a:r>
          </a:p>
        </p:txBody>
      </p:sp>
      <p:sp>
        <p:nvSpPr>
          <p:cNvPr id="15" name="TextBox 14"/>
          <p:cNvSpPr txBox="1"/>
          <p:nvPr/>
        </p:nvSpPr>
        <p:spPr>
          <a:xfrm>
            <a:off x="8357615" y="2560320"/>
            <a:ext cx="3200400" cy="3474720"/>
          </a:xfrm>
          <a:prstGeom prst="rect">
            <a:avLst/>
          </a:prstGeom>
          <a:noFill/>
        </p:spPr>
        <p:txBody>
          <a:bodyPr wrap="square">
            <a:spAutoFit/>
          </a:bodyPr>
          <a:lstStyle/>
          <a:p>
            <a:pPr algn="l"/>
            <a:r>
              <a:rPr sz="1300" b="0" i="0">
                <a:solidFill>
                  <a:srgbClr val="F4F0E8"/>
                </a:solidFill>
                <a:latin typeface="Calibri"/>
              </a:rPr>
              <a:t>Des postes qualifiés — données, développement commercial — ancrés en région.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0E8"/>
        </a:solidFill>
        <a:effectLst/>
      </p:bgPr>
    </p:bg>
    <p:spTree>
      <p:nvGrpSpPr>
        <p:cNvPr id="1" name=""/>
        <p:cNvGrpSpPr/>
        <p:nvPr/>
      </p:nvGrpSpPr>
      <p:grpSpPr/>
      <p:sp>
        <p:nvSpPr>
          <p:cNvPr id="2" name="TextBox 1"/>
          <p:cNvSpPr txBox="1"/>
          <p:nvPr/>
        </p:nvSpPr>
        <p:spPr>
          <a:xfrm>
            <a:off x="548640" y="274320"/>
            <a:ext cx="10972800" cy="274320"/>
          </a:xfrm>
          <a:prstGeom prst="rect">
            <a:avLst/>
          </a:prstGeom>
          <a:noFill/>
        </p:spPr>
        <p:txBody>
          <a:bodyPr wrap="square">
            <a:spAutoFit/>
          </a:bodyPr>
          <a:lstStyle/>
          <a:p>
            <a:pPr algn="l"/>
            <a:r>
              <a:rPr sz="1200" b="0" i="0">
                <a:solidFill>
                  <a:srgbClr val="5C7A4E"/>
                </a:solidFill>
                <a:latin typeface="Calibri"/>
              </a:rPr>
              <a:t>NOTRE DEMANDE À LA CCI DE L'ALLIER</a:t>
            </a:r>
          </a:p>
        </p:txBody>
      </p:sp>
      <p:sp>
        <p:nvSpPr>
          <p:cNvPr id="3" name="TextBox 2"/>
          <p:cNvSpPr txBox="1"/>
          <p:nvPr/>
        </p:nvSpPr>
        <p:spPr>
          <a:xfrm>
            <a:off x="548640" y="621792"/>
            <a:ext cx="10972800" cy="640080"/>
          </a:xfrm>
          <a:prstGeom prst="rect">
            <a:avLst/>
          </a:prstGeom>
          <a:noFill/>
        </p:spPr>
        <p:txBody>
          <a:bodyPr wrap="square">
            <a:spAutoFit/>
          </a:bodyPr>
          <a:lstStyle/>
          <a:p>
            <a:pPr algn="l"/>
            <a:r>
              <a:rPr sz="3200" b="1" i="0">
                <a:solidFill>
                  <a:srgbClr val="0C0F0A"/>
                </a:solidFill>
                <a:latin typeface="Calibri"/>
              </a:rPr>
              <a:t>Trois accompagnements concrets</a:t>
            </a:r>
          </a:p>
        </p:txBody>
      </p:sp>
      <p:sp>
        <p:nvSpPr>
          <p:cNvPr id="4" name="Rectangle 3"/>
          <p:cNvSpPr/>
          <p:nvPr/>
        </p:nvSpPr>
        <p:spPr>
          <a:xfrm>
            <a:off x="411480" y="1508760"/>
            <a:ext cx="11338560" cy="1371600"/>
          </a:xfrm>
          <a:prstGeom prst="rect">
            <a:avLst/>
          </a:prstGeom>
          <a:solidFill>
            <a:srgbClr val="ED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37360"/>
            <a:ext cx="548640" cy="822960"/>
          </a:xfrm>
          <a:prstGeom prst="rect">
            <a:avLst/>
          </a:prstGeom>
          <a:noFill/>
        </p:spPr>
        <p:txBody>
          <a:bodyPr wrap="square">
            <a:spAutoFit/>
          </a:bodyPr>
          <a:lstStyle/>
          <a:p>
            <a:pPr algn="ctr"/>
            <a:r>
              <a:rPr sz="3600" b="1" i="0">
                <a:solidFill>
                  <a:srgbClr val="B8922A"/>
                </a:solidFill>
                <a:latin typeface="Calibri"/>
              </a:rPr>
              <a:t>1</a:t>
            </a:r>
          </a:p>
        </p:txBody>
      </p:sp>
      <p:sp>
        <p:nvSpPr>
          <p:cNvPr id="6" name="TextBox 5"/>
          <p:cNvSpPr txBox="1"/>
          <p:nvPr/>
        </p:nvSpPr>
        <p:spPr>
          <a:xfrm>
            <a:off x="1234440" y="1645919"/>
            <a:ext cx="10149840" cy="457200"/>
          </a:xfrm>
          <a:prstGeom prst="rect">
            <a:avLst/>
          </a:prstGeom>
          <a:noFill/>
        </p:spPr>
        <p:txBody>
          <a:bodyPr wrap="square">
            <a:spAutoFit/>
          </a:bodyPr>
          <a:lstStyle/>
          <a:p>
            <a:pPr algn="l"/>
            <a:r>
              <a:rPr sz="1400" b="1" i="0">
                <a:solidFill>
                  <a:srgbClr val="0C0F0A"/>
                </a:solidFill>
                <a:latin typeface="Calibri"/>
              </a:rPr>
              <a:t>Mise en relation avec les acteurs agroalimentaires du département</a:t>
            </a:r>
          </a:p>
        </p:txBody>
      </p:sp>
      <p:sp>
        <p:nvSpPr>
          <p:cNvPr id="7" name="TextBox 6"/>
          <p:cNvSpPr txBox="1"/>
          <p:nvPr/>
        </p:nvSpPr>
        <p:spPr>
          <a:xfrm>
            <a:off x="1234440" y="2130552"/>
            <a:ext cx="10149840" cy="685800"/>
          </a:xfrm>
          <a:prstGeom prst="rect">
            <a:avLst/>
          </a:prstGeom>
          <a:noFill/>
        </p:spPr>
        <p:txBody>
          <a:bodyPr wrap="square">
            <a:spAutoFit/>
          </a:bodyPr>
          <a:lstStyle/>
          <a:p>
            <a:pPr algn="l"/>
            <a:r>
              <a:rPr sz="1300" b="0" i="0">
                <a:solidFill>
                  <a:srgbClr val="0C0F0A"/>
                </a:solidFill>
                <a:latin typeface="Calibri"/>
              </a:rPr>
              <a:t>Grossistes, coopératives, plateformes de distribution et logistique : une introduction qualifiée par la CCI vaut des mois de prospection à froid.</a:t>
            </a:r>
          </a:p>
        </p:txBody>
      </p:sp>
      <p:sp>
        <p:nvSpPr>
          <p:cNvPr id="8" name="Rectangle 7"/>
          <p:cNvSpPr/>
          <p:nvPr/>
        </p:nvSpPr>
        <p:spPr>
          <a:xfrm>
            <a:off x="411480" y="3017520"/>
            <a:ext cx="11338560" cy="1371600"/>
          </a:xfrm>
          <a:prstGeom prst="rect">
            <a:avLst/>
          </a:prstGeom>
          <a:solidFill>
            <a:srgbClr val="ED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46120"/>
            <a:ext cx="548640" cy="822960"/>
          </a:xfrm>
          <a:prstGeom prst="rect">
            <a:avLst/>
          </a:prstGeom>
          <a:noFill/>
        </p:spPr>
        <p:txBody>
          <a:bodyPr wrap="square">
            <a:spAutoFit/>
          </a:bodyPr>
          <a:lstStyle/>
          <a:p>
            <a:pPr algn="ctr"/>
            <a:r>
              <a:rPr sz="3600" b="1" i="0">
                <a:solidFill>
                  <a:srgbClr val="B8922A"/>
                </a:solidFill>
                <a:latin typeface="Calibri"/>
              </a:rPr>
              <a:t>2</a:t>
            </a:r>
          </a:p>
        </p:txBody>
      </p:sp>
      <p:sp>
        <p:nvSpPr>
          <p:cNvPr id="10" name="TextBox 9"/>
          <p:cNvSpPr txBox="1"/>
          <p:nvPr/>
        </p:nvSpPr>
        <p:spPr>
          <a:xfrm>
            <a:off x="1234440" y="3154679"/>
            <a:ext cx="10149840" cy="457200"/>
          </a:xfrm>
          <a:prstGeom prst="rect">
            <a:avLst/>
          </a:prstGeom>
          <a:noFill/>
        </p:spPr>
        <p:txBody>
          <a:bodyPr wrap="square">
            <a:spAutoFit/>
          </a:bodyPr>
          <a:lstStyle/>
          <a:p>
            <a:pPr algn="l"/>
            <a:r>
              <a:rPr sz="1400" b="1" i="0">
                <a:solidFill>
                  <a:srgbClr val="0C0F0A"/>
                </a:solidFill>
                <a:latin typeface="Calibri"/>
              </a:rPr>
              <a:t>Orientation vers les dispositifs régionaux d'appui à l'innovation</a:t>
            </a:r>
          </a:p>
        </p:txBody>
      </p:sp>
      <p:sp>
        <p:nvSpPr>
          <p:cNvPr id="11" name="TextBox 10"/>
          <p:cNvSpPr txBox="1"/>
          <p:nvPr/>
        </p:nvSpPr>
        <p:spPr>
          <a:xfrm>
            <a:off x="1234440" y="3639312"/>
            <a:ext cx="10149840" cy="685800"/>
          </a:xfrm>
          <a:prstGeom prst="rect">
            <a:avLst/>
          </a:prstGeom>
          <a:noFill/>
        </p:spPr>
        <p:txBody>
          <a:bodyPr wrap="square">
            <a:spAutoFit/>
          </a:bodyPr>
          <a:lstStyle/>
          <a:p>
            <a:pPr algn="l"/>
            <a:r>
              <a:rPr sz="1300" b="0" i="0">
                <a:solidFill>
                  <a:srgbClr val="0C0F0A"/>
                </a:solidFill>
                <a:latin typeface="Calibri"/>
              </a:rPr>
              <a:t>Région Auvergne-Rhône-Alpes, Bpifrance, réseau French Tech local.</a:t>
            </a:r>
          </a:p>
        </p:txBody>
      </p:sp>
      <p:sp>
        <p:nvSpPr>
          <p:cNvPr id="12" name="Rectangle 11"/>
          <p:cNvSpPr/>
          <p:nvPr/>
        </p:nvSpPr>
        <p:spPr>
          <a:xfrm>
            <a:off x="411480" y="4526279"/>
            <a:ext cx="11338560" cy="1371600"/>
          </a:xfrm>
          <a:prstGeom prst="rect">
            <a:avLst/>
          </a:prstGeom>
          <a:solidFill>
            <a:srgbClr val="ED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754879"/>
            <a:ext cx="548640" cy="822960"/>
          </a:xfrm>
          <a:prstGeom prst="rect">
            <a:avLst/>
          </a:prstGeom>
          <a:noFill/>
        </p:spPr>
        <p:txBody>
          <a:bodyPr wrap="square">
            <a:spAutoFit/>
          </a:bodyPr>
          <a:lstStyle/>
          <a:p>
            <a:pPr algn="ctr"/>
            <a:r>
              <a:rPr sz="3600" b="1" i="0">
                <a:solidFill>
                  <a:srgbClr val="B8922A"/>
                </a:solidFill>
                <a:latin typeface="Calibri"/>
              </a:rPr>
              <a:t>3</a:t>
            </a:r>
          </a:p>
        </p:txBody>
      </p:sp>
      <p:sp>
        <p:nvSpPr>
          <p:cNvPr id="14" name="TextBox 13"/>
          <p:cNvSpPr txBox="1"/>
          <p:nvPr/>
        </p:nvSpPr>
        <p:spPr>
          <a:xfrm>
            <a:off x="1234440" y="4663440"/>
            <a:ext cx="10149840" cy="457200"/>
          </a:xfrm>
          <a:prstGeom prst="rect">
            <a:avLst/>
          </a:prstGeom>
          <a:noFill/>
        </p:spPr>
        <p:txBody>
          <a:bodyPr wrap="square">
            <a:spAutoFit/>
          </a:bodyPr>
          <a:lstStyle/>
          <a:p>
            <a:pPr algn="l"/>
            <a:r>
              <a:rPr sz="1400" b="1" i="0">
                <a:solidFill>
                  <a:srgbClr val="0C0F0A"/>
                </a:solidFill>
                <a:latin typeface="Calibri"/>
              </a:rPr>
              <a:t>Conseil sur l'ancrage territorial du projet</a:t>
            </a:r>
          </a:p>
        </p:txBody>
      </p:sp>
      <p:sp>
        <p:nvSpPr>
          <p:cNvPr id="15" name="TextBox 14"/>
          <p:cNvSpPr txBox="1"/>
          <p:nvPr/>
        </p:nvSpPr>
        <p:spPr>
          <a:xfrm>
            <a:off x="1234440" y="5148071"/>
            <a:ext cx="10149840" cy="685800"/>
          </a:xfrm>
          <a:prstGeom prst="rect">
            <a:avLst/>
          </a:prstGeom>
          <a:noFill/>
        </p:spPr>
        <p:txBody>
          <a:bodyPr wrap="square">
            <a:spAutoFit/>
          </a:bodyPr>
          <a:lstStyle/>
          <a:p>
            <a:pPr algn="l"/>
            <a:r>
              <a:rPr sz="1300" b="0" i="0">
                <a:solidFill>
                  <a:srgbClr val="0C0F0A"/>
                </a:solidFill>
                <a:latin typeface="Calibri"/>
              </a:rPr>
              <a:t>Implantation, recrutements futurs, participation aux filières agroalimentaires locales.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0F0A"/>
        </a:solidFill>
        <a:effectLst/>
      </p:bgPr>
    </p:bg>
    <p:spTree>
      <p:nvGrpSpPr>
        <p:cNvPr id="1" name=""/>
        <p:cNvGrpSpPr/>
        <p:nvPr/>
      </p:nvGrpSpPr>
      <p:grpSpPr/>
      <p:sp>
        <p:nvSpPr>
          <p:cNvPr id="2" name="TextBox 1"/>
          <p:cNvSpPr txBox="1"/>
          <p:nvPr/>
        </p:nvSpPr>
        <p:spPr>
          <a:xfrm>
            <a:off x="457200" y="1051560"/>
            <a:ext cx="11274552" cy="1371600"/>
          </a:xfrm>
          <a:prstGeom prst="rect">
            <a:avLst/>
          </a:prstGeom>
          <a:noFill/>
        </p:spPr>
        <p:txBody>
          <a:bodyPr wrap="square">
            <a:spAutoFit/>
          </a:bodyPr>
          <a:lstStyle/>
          <a:p>
            <a:pPr algn="ctr"/>
            <a:r>
              <a:rPr sz="6000" b="1" i="0">
                <a:solidFill>
                  <a:srgbClr val="F4F0E8"/>
                </a:solidFill>
                <a:latin typeface="Calibri"/>
              </a:rPr>
              <a:t>LYSARIS</a:t>
            </a:r>
          </a:p>
        </p:txBody>
      </p:sp>
      <p:sp>
        <p:nvSpPr>
          <p:cNvPr id="3" name="TextBox 2"/>
          <p:cNvSpPr txBox="1"/>
          <p:nvPr/>
        </p:nvSpPr>
        <p:spPr>
          <a:xfrm>
            <a:off x="457200" y="2468880"/>
            <a:ext cx="11274552" cy="548640"/>
          </a:xfrm>
          <a:prstGeom prst="rect">
            <a:avLst/>
          </a:prstGeom>
          <a:noFill/>
        </p:spPr>
        <p:txBody>
          <a:bodyPr wrap="square">
            <a:spAutoFit/>
          </a:bodyPr>
          <a:lstStyle/>
          <a:p>
            <a:pPr algn="ctr"/>
            <a:r>
              <a:rPr sz="1600" b="0" i="0">
                <a:solidFill>
                  <a:srgbClr val="B8922A"/>
                </a:solidFill>
                <a:latin typeface="Calibri"/>
              </a:rPr>
              <a:t>L'infrastructure numérique des marchés de gros alimentaires français</a:t>
            </a:r>
          </a:p>
        </p:txBody>
      </p:sp>
      <p:sp>
        <p:nvSpPr>
          <p:cNvPr id="4" name="TextBox 3"/>
          <p:cNvSpPr txBox="1"/>
          <p:nvPr/>
        </p:nvSpPr>
        <p:spPr>
          <a:xfrm>
            <a:off x="457200" y="3154680"/>
            <a:ext cx="11274552" cy="457200"/>
          </a:xfrm>
          <a:prstGeom prst="rect">
            <a:avLst/>
          </a:prstGeom>
          <a:noFill/>
        </p:spPr>
        <p:txBody>
          <a:bodyPr wrap="square">
            <a:spAutoFit/>
          </a:bodyPr>
          <a:lstStyle/>
          <a:p>
            <a:pPr algn="ctr"/>
            <a:r>
              <a:rPr sz="1300" b="0" i="0">
                <a:solidFill>
                  <a:srgbClr val="F4F0E8"/>
                </a:solidFill>
                <a:latin typeface="Calibri"/>
              </a:rPr>
              <a:t>Jeune entreprise fondée en 2026 — phase pilote avec partenaires sélectionnés.</a:t>
            </a:r>
          </a:p>
        </p:txBody>
      </p:sp>
      <p:sp>
        <p:nvSpPr>
          <p:cNvPr id="5" name="TextBox 4"/>
          <p:cNvSpPr txBox="1"/>
          <p:nvPr/>
        </p:nvSpPr>
        <p:spPr>
          <a:xfrm>
            <a:off x="457200" y="3931920"/>
            <a:ext cx="11274552" cy="411480"/>
          </a:xfrm>
          <a:prstGeom prst="rect">
            <a:avLst/>
          </a:prstGeom>
          <a:noFill/>
        </p:spPr>
        <p:txBody>
          <a:bodyPr wrap="square">
            <a:spAutoFit/>
          </a:bodyPr>
          <a:lstStyle/>
          <a:p>
            <a:pPr algn="ctr"/>
            <a:r>
              <a:rPr sz="1400" b="0" i="0">
                <a:solidFill>
                  <a:srgbClr val="F4F0E8"/>
                </a:solidFill>
                <a:latin typeface="Calibri"/>
              </a:rPr>
              <a:t>MAT — Directeur Général</a:t>
            </a:r>
          </a:p>
        </p:txBody>
      </p:sp>
      <p:sp>
        <p:nvSpPr>
          <p:cNvPr id="6" name="TextBox 5"/>
          <p:cNvSpPr txBox="1"/>
          <p:nvPr/>
        </p:nvSpPr>
        <p:spPr>
          <a:xfrm>
            <a:off x="457200" y="4434840"/>
            <a:ext cx="11274552" cy="411480"/>
          </a:xfrm>
          <a:prstGeom prst="rect">
            <a:avLst/>
          </a:prstGeom>
          <a:noFill/>
        </p:spPr>
        <p:txBody>
          <a:bodyPr wrap="square">
            <a:spAutoFit/>
          </a:bodyPr>
          <a:lstStyle/>
          <a:p>
            <a:pPr algn="ctr"/>
            <a:r>
              <a:rPr sz="1400" b="0" i="0">
                <a:solidFill>
                  <a:srgbClr val="B8922A"/>
                </a:solidFill>
                <a:latin typeface="Calibri"/>
              </a:rPr>
              <a:t>contact@lysaris.fr</a:t>
            </a:r>
          </a:p>
        </p:txBody>
      </p:sp>
      <p:sp>
        <p:nvSpPr>
          <p:cNvPr id="7" name="TextBox 6"/>
          <p:cNvSpPr txBox="1"/>
          <p:nvPr/>
        </p:nvSpPr>
        <p:spPr>
          <a:xfrm>
            <a:off x="457200" y="6309360"/>
            <a:ext cx="11274552" cy="365760"/>
          </a:xfrm>
          <a:prstGeom prst="rect">
            <a:avLst/>
          </a:prstGeom>
          <a:noFill/>
        </p:spPr>
        <p:txBody>
          <a:bodyPr wrap="square">
            <a:spAutoFit/>
          </a:bodyPr>
          <a:lstStyle/>
          <a:p>
            <a:pPr algn="ctr"/>
            <a:r>
              <a:rPr sz="1000" b="0" i="0">
                <a:solidFill>
                  <a:srgbClr val="7A8070"/>
                </a:solidFill>
                <a:latin typeface="Calibri"/>
              </a:rPr>
              <a:t>SAS LYSARIS — STRUCTURE EN COURS DE FINALISATION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